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89" r:id="rId6"/>
    <p:sldId id="287" r:id="rId7"/>
    <p:sldId id="295" r:id="rId8"/>
    <p:sldId id="288" r:id="rId9"/>
    <p:sldId id="290" r:id="rId10"/>
    <p:sldId id="291" r:id="rId11"/>
    <p:sldId id="292" r:id="rId12"/>
    <p:sldId id="293" r:id="rId13"/>
    <p:sldId id="294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08EDE7-4673-47B1-B6E7-2DA5D501FB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C238B25-93AC-4883-ABA0-8F39E8A30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64DC99-EFC3-4F73-A569-3C09DDD9A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2838-451A-4E7B-80FA-189A82C8EE06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C405C12-B4C2-4505-AE5E-FB4ED7C18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5B576A-52ED-4D5A-BC01-65050C2AA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8A3-FC38-4BD7-9B7E-C561E499CC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0304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493AD7-12EC-446D-935B-621EA1BF8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98410B-4A93-4E34-A5BB-E62F8AE95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3E851C7-0EFF-4185-9E19-60A8EF224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2838-451A-4E7B-80FA-189A82C8EE06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39E1C1-CECD-409C-ABC4-2FD234821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13788FB-900B-4684-B2E9-8CDA682EC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8A3-FC38-4BD7-9B7E-C561E499CC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1796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E23818-BAF2-4832-A86A-EF4C2C037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AAD5859-15F9-4F37-8987-6288775C2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6B66DB-67F7-4501-9E20-E21C621F0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2838-451A-4E7B-80FA-189A82C8EE06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4FEE847-8836-407A-A729-28AAF89C5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013499-4B12-43F7-858B-4B4EDB611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8A3-FC38-4BD7-9B7E-C561E499CC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0696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4C4A82-16D7-4B7C-8CC6-6DDD97211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C52152-30E9-468B-BD5C-05A5861B42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57AD075-C7CC-40D9-9C4B-870E947EA6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A006D92-DF06-4661-A2C7-5A4DD01F0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2838-451A-4E7B-80FA-189A82C8EE06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0EC48AF-3C04-4FD2-81EC-8C01357EF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9875210-E037-453C-8CDC-5EC3A9945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8A3-FC38-4BD7-9B7E-C561E499CC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3272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052DA3-D7AA-41F9-AC6A-CAB2D5B8B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581C6CE-93AC-4295-8040-531D903BA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B132E0F-F1BE-42C4-9D1F-3AF9C6A01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AE4846E-567E-4F77-BBA9-EE453F45A8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CB3A5DA-94E5-47F3-A84C-9CC30AFF88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1B75DD3-0A5F-4694-BAA8-AE13FA220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2838-451A-4E7B-80FA-189A82C8EE06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F3B5EC2-7712-4CEE-BAD9-01DCFACDE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D2CDFF1-6AAB-462F-A8AA-13B693DAD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8A3-FC38-4BD7-9B7E-C561E499CC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0714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09C731-016E-456E-B36E-D64D1DFD3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1B69018-B2E4-4498-AC37-F08DA1182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2838-451A-4E7B-80FA-189A82C8EE06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573A1E2-4909-4A67-83D1-C1D48D487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C775CCD-9317-4A41-8E93-00E51AA0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8A3-FC38-4BD7-9B7E-C561E499CC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6861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7F04748-3B39-4609-9539-96833FB21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2838-451A-4E7B-80FA-189A82C8EE06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FD908B0-98BD-4699-9F56-BC0267381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250E78-D8CD-4B67-ACFE-AAC33FDCA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8A3-FC38-4BD7-9B7E-C561E499CC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3613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87E976-E8A0-412D-A51B-58B938056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4C4C03-5DD5-44A4-8C35-968E51EDE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3CFF93D-1022-4FCD-AFB2-C38DB22C6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A9955C1-2032-4C74-989E-C5681AEBB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2838-451A-4E7B-80FA-189A82C8EE06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C12337A-FE4A-4321-AFE4-8867DE7D2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D25434F-2031-40B8-B587-DDE88FA2A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8A3-FC38-4BD7-9B7E-C561E499CC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998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CDBB8C-44C6-4DD7-A1EA-1FDAAAC8E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156F7D0-7C10-413C-ADC3-8F704495DA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8397C71-CA42-494F-ACE1-5A78074675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CF1AF6F-C5D4-49B2-AAB9-7E4C9EB6D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2838-451A-4E7B-80FA-189A82C8EE06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60495A1-3E69-41C2-9EDF-722B2C085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D337CA7-CCE6-4F3C-92C4-F0AAC717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8A3-FC38-4BD7-9B7E-C561E499CC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89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C2C47B-4AAF-4288-A99A-8BAC89A4A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789B882-0988-4F9D-8322-A1346FF26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F5BB97-3DDA-4B0A-8A68-AED98AA19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2838-451A-4E7B-80FA-189A82C8EE06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725F4B-65E0-4D22-BE8A-B19BBADE8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98D2163-3DAE-41FF-ACAC-4327D91D8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8A3-FC38-4BD7-9B7E-C561E499CC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1800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1E16FE4-E161-47A3-8555-0B8B7A528D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13C6EB2-C61B-4AAC-B763-55D6516EE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EDBE14-BE8A-4F7C-B3B2-CADFE5886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2838-451A-4E7B-80FA-189A82C8EE06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192FEA-D8D0-4B59-9EF4-C0AB7457B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D2D1C0-62E1-4B3A-8299-A039BED6B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7B8A3-FC38-4BD7-9B7E-C561E499CC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5620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AE71E00-67E9-444E-851B-15D3C101B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2BA0EA9-DEFA-49FC-ACD9-A7347AC24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D9472E-7D97-4FEE-911E-545910F068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D2838-451A-4E7B-80FA-189A82C8EE06}" type="datetimeFigureOut">
              <a:rPr lang="zh-TW" altLang="en-US" smtClean="0"/>
              <a:t>2024/4/24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F9C1334-5B1D-41DE-9E7A-C16095F588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F73AC6-ADBF-4BAB-854F-42E35C62B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7B8A3-FC38-4BD7-9B7E-C561E499CC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1542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62F98C-5E3B-498E-97F3-3DA6ADE7C1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策略報告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2323738-3D17-4F24-B9A1-27CA4A66AB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學號</a:t>
            </a:r>
            <a:r>
              <a:rPr lang="en-US" altLang="zh-TW" dirty="0"/>
              <a:t>:109062202	</a:t>
            </a:r>
            <a:r>
              <a:rPr lang="zh-TW" altLang="en-US" dirty="0"/>
              <a:t>姓名</a:t>
            </a:r>
            <a:r>
              <a:rPr lang="en-US" altLang="zh-TW" dirty="0"/>
              <a:t>:</a:t>
            </a:r>
            <a:r>
              <a:rPr lang="zh-TW" altLang="en-US" dirty="0"/>
              <a:t>陳禹辰</a:t>
            </a:r>
          </a:p>
        </p:txBody>
      </p:sp>
    </p:spTree>
    <p:extLst>
      <p:ext uri="{BB962C8B-B14F-4D97-AF65-F5344CB8AC3E}">
        <p14:creationId xmlns:p14="http://schemas.microsoft.com/office/powerpoint/2010/main" val="2145955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D673D1-F62D-4DF4-9313-A2721BD0B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8637D7-1372-40D2-B9F3-D0631D86E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/>
              <a:t>台指期</a:t>
            </a:r>
            <a:endParaRPr lang="en-US" altLang="zh-TW" sz="2400" dirty="0"/>
          </a:p>
          <a:p>
            <a:r>
              <a:rPr lang="zh-TW" altLang="en-US" sz="2400" dirty="0"/>
              <a:t>日盤、夜盤 </a:t>
            </a:r>
            <a:r>
              <a:rPr lang="en-US" altLang="zh-TW" sz="2400" dirty="0"/>
              <a:t>5T</a:t>
            </a:r>
          </a:p>
          <a:p>
            <a:r>
              <a:rPr lang="zh-TW" altLang="en-US" sz="2400" dirty="0"/>
              <a:t>樣本內</a:t>
            </a:r>
            <a:r>
              <a:rPr lang="en-US" altLang="zh-TW" sz="2400" dirty="0"/>
              <a:t>:2020/03/22</a:t>
            </a:r>
            <a:r>
              <a:rPr lang="zh-TW" altLang="en-US" sz="2400" dirty="0"/>
              <a:t> </a:t>
            </a:r>
            <a:r>
              <a:rPr lang="en-US" altLang="zh-TW" sz="2400" dirty="0"/>
              <a:t>–</a:t>
            </a:r>
            <a:r>
              <a:rPr lang="zh-TW" altLang="en-US" sz="2400" dirty="0"/>
              <a:t> </a:t>
            </a:r>
            <a:r>
              <a:rPr lang="en-US" altLang="zh-TW" sz="2400" dirty="0"/>
              <a:t>2022/12/31</a:t>
            </a:r>
          </a:p>
          <a:p>
            <a:r>
              <a:rPr lang="zh-TW" altLang="en-US" sz="2400" dirty="0"/>
              <a:t>樣本外</a:t>
            </a:r>
            <a:r>
              <a:rPr lang="en-US" altLang="zh-TW" sz="2400" dirty="0"/>
              <a:t>:2023/01/01</a:t>
            </a:r>
            <a:r>
              <a:rPr lang="zh-TW" altLang="en-US" sz="2400" dirty="0"/>
              <a:t> </a:t>
            </a:r>
            <a:r>
              <a:rPr lang="en-US" altLang="zh-TW" sz="2400" dirty="0"/>
              <a:t>–</a:t>
            </a:r>
            <a:r>
              <a:rPr lang="zh-TW" altLang="en-US" sz="2400" dirty="0"/>
              <a:t> </a:t>
            </a:r>
            <a:r>
              <a:rPr lang="en-US" altLang="zh-TW" sz="2400" dirty="0"/>
              <a:t>2024/04/15</a:t>
            </a:r>
          </a:p>
          <a:p>
            <a:r>
              <a:rPr lang="zh-TW" altLang="en-US" sz="2400" dirty="0"/>
              <a:t>手續費</a:t>
            </a:r>
            <a:r>
              <a:rPr lang="en-US" altLang="zh-TW" sz="2400" dirty="0"/>
              <a:t>:0.00025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62073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60695D-3BA2-4A11-AF57-92A843FAC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使用指標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003AEE-4AEC-4A30-AC73-1BCFE6CB2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29909" cy="4442010"/>
          </a:xfrm>
        </p:spPr>
        <p:txBody>
          <a:bodyPr>
            <a:normAutofit/>
          </a:bodyPr>
          <a:lstStyle/>
          <a:p>
            <a:r>
              <a:rPr lang="en-US" altLang="zh-TW" sz="2400" dirty="0"/>
              <a:t>EMA</a:t>
            </a:r>
          </a:p>
          <a:p>
            <a:pPr lvl="1"/>
            <a:r>
              <a:rPr lang="zh-TW" altLang="en-US" sz="2000" dirty="0"/>
              <a:t>大戶買進</a:t>
            </a:r>
            <a:endParaRPr lang="en-US" altLang="zh-TW" sz="2000" dirty="0"/>
          </a:p>
          <a:p>
            <a:pPr lvl="1"/>
            <a:r>
              <a:rPr lang="zh-TW" altLang="en-US" sz="2000" dirty="0"/>
              <a:t>散戶買進</a:t>
            </a:r>
            <a:endParaRPr lang="en-US" altLang="zh-TW" sz="2000" dirty="0"/>
          </a:p>
          <a:p>
            <a:r>
              <a:rPr lang="en-US" altLang="zh-TW" sz="2400" dirty="0"/>
              <a:t>MACD</a:t>
            </a:r>
          </a:p>
          <a:p>
            <a:r>
              <a:rPr lang="zh-TW" altLang="en-US" sz="2400" dirty="0"/>
              <a:t>威廉指標</a:t>
            </a:r>
            <a:endParaRPr lang="en-US" altLang="zh-TW" sz="2400" dirty="0"/>
          </a:p>
          <a:p>
            <a:pPr lvl="1"/>
            <a:r>
              <a:rPr lang="en-US" altLang="zh-TW" sz="2000" dirty="0"/>
              <a:t>0</a:t>
            </a:r>
            <a:r>
              <a:rPr lang="zh-TW" altLang="en-US" sz="2000" dirty="0"/>
              <a:t>到</a:t>
            </a:r>
            <a:r>
              <a:rPr lang="en-US" altLang="zh-TW" sz="2000" dirty="0"/>
              <a:t>-20</a:t>
            </a:r>
            <a:r>
              <a:rPr lang="zh-TW" altLang="en-US" sz="2000" dirty="0"/>
              <a:t> </a:t>
            </a:r>
            <a:r>
              <a:rPr lang="en-US" altLang="zh-TW" sz="2000" dirty="0"/>
              <a:t>(</a:t>
            </a:r>
            <a:r>
              <a:rPr lang="zh-TW" altLang="en-US" sz="2000" dirty="0"/>
              <a:t>超買</a:t>
            </a:r>
            <a:r>
              <a:rPr lang="en-US" altLang="zh-TW" sz="2000" dirty="0"/>
              <a:t>)</a:t>
            </a:r>
          </a:p>
          <a:p>
            <a:pPr lvl="1"/>
            <a:r>
              <a:rPr lang="en-US" altLang="zh-TW" sz="2000" dirty="0"/>
              <a:t>-80</a:t>
            </a:r>
            <a:r>
              <a:rPr lang="zh-TW" altLang="en-US" sz="2000" dirty="0"/>
              <a:t>到</a:t>
            </a:r>
            <a:r>
              <a:rPr lang="en-US" altLang="zh-TW" sz="2000" dirty="0"/>
              <a:t>-100</a:t>
            </a:r>
            <a:r>
              <a:rPr lang="zh-TW" altLang="en-US" sz="2000" dirty="0"/>
              <a:t> </a:t>
            </a:r>
            <a:r>
              <a:rPr lang="en-US" altLang="zh-TW" sz="2000" dirty="0"/>
              <a:t>(</a:t>
            </a:r>
            <a:r>
              <a:rPr lang="zh-TW" altLang="en-US" sz="2000" dirty="0"/>
              <a:t>超賣</a:t>
            </a:r>
            <a:r>
              <a:rPr lang="en-US" altLang="zh-TW" sz="2000" dirty="0"/>
              <a:t>)</a:t>
            </a:r>
            <a:endParaRPr lang="zh-TW" altLang="en-US" sz="20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835A8D0-1B39-41C2-93A6-E538C2C4E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231" y="4537321"/>
            <a:ext cx="5133975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854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A385C7-EEAA-4C15-8257-D5355F92D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TW" altLang="en-US" dirty="0"/>
              <a:t>日盤多單策略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4E4DB6-504D-43B1-8DA0-E203B8BD2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/>
              <a:t>日盤</a:t>
            </a:r>
            <a:r>
              <a:rPr lang="en-US" altLang="zh-TW" sz="2400" dirty="0"/>
              <a:t>9.15-13.15</a:t>
            </a:r>
          </a:p>
          <a:p>
            <a:r>
              <a:rPr lang="zh-TW" altLang="en-US" sz="2400" dirty="0"/>
              <a:t>進場</a:t>
            </a:r>
            <a:endParaRPr lang="en-US" altLang="zh-TW" sz="2400" dirty="0"/>
          </a:p>
          <a:p>
            <a:pPr lvl="1"/>
            <a:r>
              <a:rPr lang="en-US" altLang="zh-TW" sz="2000" dirty="0"/>
              <a:t>MACD</a:t>
            </a:r>
            <a:r>
              <a:rPr lang="zh-TW" altLang="en-US" sz="2000" dirty="0"/>
              <a:t>突破訊號線</a:t>
            </a:r>
            <a:endParaRPr lang="en-US" altLang="zh-TW" sz="2000" dirty="0"/>
          </a:p>
          <a:p>
            <a:pPr lvl="1"/>
            <a:r>
              <a:rPr lang="en-US" altLang="zh-TW" sz="2000" dirty="0"/>
              <a:t>EMA</a:t>
            </a:r>
            <a:r>
              <a:rPr lang="zh-TW" altLang="en-US" sz="2000" dirty="0"/>
              <a:t>快線</a:t>
            </a:r>
            <a:r>
              <a:rPr lang="en-US" altLang="zh-TW" sz="2000" dirty="0"/>
              <a:t>(</a:t>
            </a:r>
            <a:r>
              <a:rPr lang="zh-TW" altLang="en-US" sz="2000" dirty="0"/>
              <a:t>大戶買進</a:t>
            </a:r>
            <a:r>
              <a:rPr lang="en-US" altLang="zh-TW" sz="2000" dirty="0"/>
              <a:t>)</a:t>
            </a:r>
            <a:r>
              <a:rPr lang="zh-TW" altLang="en-US" sz="2000" dirty="0"/>
              <a:t>突破</a:t>
            </a:r>
            <a:r>
              <a:rPr lang="en-US" altLang="zh-TW" sz="2000" dirty="0"/>
              <a:t>EMA</a:t>
            </a:r>
            <a:r>
              <a:rPr lang="zh-TW" altLang="en-US" sz="2000" dirty="0"/>
              <a:t>慢線</a:t>
            </a:r>
            <a:r>
              <a:rPr lang="en-US" altLang="zh-TW" sz="2000" dirty="0"/>
              <a:t>(</a:t>
            </a:r>
            <a:r>
              <a:rPr lang="zh-TW" altLang="en-US" sz="2000" dirty="0"/>
              <a:t>散戶買進</a:t>
            </a:r>
            <a:r>
              <a:rPr lang="en-US" altLang="zh-TW" sz="2000" dirty="0"/>
              <a:t>)</a:t>
            </a:r>
          </a:p>
          <a:p>
            <a:r>
              <a:rPr lang="zh-TW" altLang="en-US" sz="2400" dirty="0"/>
              <a:t>出場</a:t>
            </a:r>
            <a:endParaRPr lang="en-US" altLang="zh-TW" sz="2400" dirty="0"/>
          </a:p>
          <a:p>
            <a:pPr lvl="1"/>
            <a:r>
              <a:rPr lang="en-US" altLang="zh-TW" sz="2000" dirty="0"/>
              <a:t>MACD</a:t>
            </a:r>
            <a:r>
              <a:rPr lang="zh-TW" altLang="en-US" sz="2000" dirty="0"/>
              <a:t>跌破訊號線</a:t>
            </a:r>
            <a:endParaRPr lang="en-US" altLang="zh-TW" sz="2000" dirty="0"/>
          </a:p>
          <a:p>
            <a:pPr lvl="1"/>
            <a:r>
              <a:rPr lang="en-US" altLang="zh-TW" sz="2000" dirty="0"/>
              <a:t>EMA</a:t>
            </a:r>
            <a:r>
              <a:rPr lang="zh-TW" altLang="en-US" sz="2000" dirty="0"/>
              <a:t>快線</a:t>
            </a:r>
            <a:r>
              <a:rPr lang="en-US" altLang="zh-TW" sz="2000" dirty="0"/>
              <a:t>(</a:t>
            </a:r>
            <a:r>
              <a:rPr lang="zh-TW" altLang="en-US" sz="2000" dirty="0"/>
              <a:t>大戶買進</a:t>
            </a:r>
            <a:r>
              <a:rPr lang="en-US" altLang="zh-TW" sz="2000" dirty="0"/>
              <a:t>)</a:t>
            </a:r>
            <a:r>
              <a:rPr lang="zh-TW" altLang="en-US" sz="2000" dirty="0"/>
              <a:t>跌破</a:t>
            </a:r>
            <a:r>
              <a:rPr lang="en-US" altLang="zh-TW" sz="2000" dirty="0"/>
              <a:t>EMA</a:t>
            </a:r>
            <a:r>
              <a:rPr lang="zh-TW" altLang="en-US" sz="2000" dirty="0"/>
              <a:t>慢線</a:t>
            </a:r>
            <a:r>
              <a:rPr lang="en-US" altLang="zh-TW" sz="2000" dirty="0"/>
              <a:t>(</a:t>
            </a:r>
            <a:r>
              <a:rPr lang="zh-TW" altLang="en-US" sz="2000" dirty="0"/>
              <a:t>散戶買進</a:t>
            </a:r>
            <a:r>
              <a:rPr lang="en-US" altLang="zh-TW" sz="2000" dirty="0"/>
              <a:t>)</a:t>
            </a:r>
          </a:p>
          <a:p>
            <a:pPr lvl="1"/>
            <a:r>
              <a:rPr lang="en-US" altLang="zh-TW" sz="2000" dirty="0"/>
              <a:t>0.5%</a:t>
            </a:r>
            <a:r>
              <a:rPr lang="zh-TW" altLang="en-US" sz="2000" dirty="0"/>
              <a:t>止損</a:t>
            </a:r>
            <a:endParaRPr lang="en-US" altLang="zh-TW" sz="20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A527F11-C139-4393-9AFB-B21F5B6C1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758" y="418790"/>
            <a:ext cx="3929106" cy="575817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19B7600-D349-4C13-A698-86B30858D9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2775"/>
          <a:stretch/>
        </p:blipFill>
        <p:spPr>
          <a:xfrm>
            <a:off x="10735852" y="-5557"/>
            <a:ext cx="1456148" cy="163017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DF8EE83D-91BB-4EA1-B3AD-F801D747D323}"/>
              </a:ext>
            </a:extLst>
          </p:cNvPr>
          <p:cNvSpPr/>
          <p:nvPr/>
        </p:nvSpPr>
        <p:spPr>
          <a:xfrm>
            <a:off x="6607734" y="1690688"/>
            <a:ext cx="4128118" cy="20913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2A457FA-27CA-4F45-BF35-14AE97F67034}"/>
              </a:ext>
            </a:extLst>
          </p:cNvPr>
          <p:cNvSpPr/>
          <p:nvPr/>
        </p:nvSpPr>
        <p:spPr>
          <a:xfrm>
            <a:off x="6607734" y="3088743"/>
            <a:ext cx="4128118" cy="20913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C5033DC-D01B-4982-81A0-54FD5158160A}"/>
              </a:ext>
            </a:extLst>
          </p:cNvPr>
          <p:cNvSpPr/>
          <p:nvPr/>
        </p:nvSpPr>
        <p:spPr>
          <a:xfrm>
            <a:off x="6607734" y="4128910"/>
            <a:ext cx="4128118" cy="20913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00F22E6-19FA-439E-B3A0-20F2F3CBEB91}"/>
              </a:ext>
            </a:extLst>
          </p:cNvPr>
          <p:cNvSpPr/>
          <p:nvPr/>
        </p:nvSpPr>
        <p:spPr>
          <a:xfrm>
            <a:off x="6579252" y="5328875"/>
            <a:ext cx="4128118" cy="20913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36FB185-C96F-4D2F-B94D-BBFF7ADFE152}"/>
              </a:ext>
            </a:extLst>
          </p:cNvPr>
          <p:cNvSpPr/>
          <p:nvPr/>
        </p:nvSpPr>
        <p:spPr>
          <a:xfrm>
            <a:off x="6579252" y="5752919"/>
            <a:ext cx="4128118" cy="20913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422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D56C9789-6E81-42E1-B52F-FC6D4EF236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43" y="701810"/>
            <a:ext cx="10714914" cy="5454380"/>
          </a:xfr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C6BB66C6-C267-4D77-82A0-0FDD9D4255C5}"/>
              </a:ext>
            </a:extLst>
          </p:cNvPr>
          <p:cNvCxnSpPr>
            <a:cxnSpLocks/>
          </p:cNvCxnSpPr>
          <p:nvPr/>
        </p:nvCxnSpPr>
        <p:spPr>
          <a:xfrm flipV="1">
            <a:off x="7883371" y="150920"/>
            <a:ext cx="0" cy="644519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068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A385C7-EEAA-4C15-8257-D5355F92D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TW" altLang="en-US" dirty="0"/>
              <a:t>日盤空單策略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4E4DB6-504D-43B1-8DA0-E203B8BD2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/>
              <a:t>日盤</a:t>
            </a:r>
            <a:r>
              <a:rPr lang="en-US" altLang="zh-TW" sz="2400" dirty="0"/>
              <a:t>9.15-13.15</a:t>
            </a:r>
          </a:p>
          <a:p>
            <a:r>
              <a:rPr lang="zh-TW" altLang="en-US" sz="2400" dirty="0"/>
              <a:t>進場</a:t>
            </a:r>
            <a:endParaRPr lang="en-US" altLang="zh-TW" sz="2400" dirty="0"/>
          </a:p>
          <a:p>
            <a:pPr lvl="1"/>
            <a:r>
              <a:rPr lang="zh-TW" altLang="en-US" sz="2000" dirty="0"/>
              <a:t>威廉指標 </a:t>
            </a:r>
            <a:r>
              <a:rPr lang="en-US" altLang="zh-TW" sz="2000" dirty="0"/>
              <a:t>&gt;</a:t>
            </a:r>
            <a:r>
              <a:rPr lang="zh-TW" altLang="en-US" sz="2000" dirty="0"/>
              <a:t> </a:t>
            </a:r>
            <a:r>
              <a:rPr lang="en-US" altLang="zh-TW" sz="2000" dirty="0"/>
              <a:t>-20%</a:t>
            </a:r>
            <a:r>
              <a:rPr lang="zh-TW" altLang="en-US" sz="2000" dirty="0"/>
              <a:t> </a:t>
            </a:r>
            <a:r>
              <a:rPr lang="en-US" altLang="zh-TW" sz="2000" dirty="0"/>
              <a:t>(</a:t>
            </a:r>
            <a:r>
              <a:rPr lang="zh-TW" altLang="en-US" sz="2000" dirty="0"/>
              <a:t>超買</a:t>
            </a:r>
            <a:r>
              <a:rPr lang="en-US" altLang="zh-TW" sz="2000" dirty="0"/>
              <a:t>)</a:t>
            </a:r>
          </a:p>
          <a:p>
            <a:pPr lvl="1"/>
            <a:r>
              <a:rPr lang="en-US" altLang="zh-TW" sz="2000" dirty="0"/>
              <a:t>EMA</a:t>
            </a:r>
            <a:r>
              <a:rPr lang="zh-TW" altLang="en-US" sz="2000" dirty="0"/>
              <a:t>快線</a:t>
            </a:r>
            <a:r>
              <a:rPr lang="en-US" altLang="zh-TW" sz="2000" dirty="0"/>
              <a:t>(</a:t>
            </a:r>
            <a:r>
              <a:rPr lang="zh-TW" altLang="en-US" sz="2000" dirty="0"/>
              <a:t>大戶買進</a:t>
            </a:r>
            <a:r>
              <a:rPr lang="en-US" altLang="zh-TW" sz="2000" dirty="0"/>
              <a:t>)</a:t>
            </a:r>
            <a:r>
              <a:rPr lang="zh-TW" altLang="en-US" sz="2000" dirty="0"/>
              <a:t>突破</a:t>
            </a:r>
            <a:r>
              <a:rPr lang="en-US" altLang="zh-TW" sz="2000" dirty="0"/>
              <a:t>EMA</a:t>
            </a:r>
            <a:r>
              <a:rPr lang="zh-TW" altLang="en-US" sz="2000" dirty="0"/>
              <a:t>慢線</a:t>
            </a:r>
            <a:r>
              <a:rPr lang="en-US" altLang="zh-TW" sz="2000" dirty="0"/>
              <a:t>(</a:t>
            </a:r>
            <a:r>
              <a:rPr lang="zh-TW" altLang="en-US" sz="2000" dirty="0"/>
              <a:t>散戶買進</a:t>
            </a:r>
            <a:r>
              <a:rPr lang="en-US" altLang="zh-TW" sz="2000" dirty="0"/>
              <a:t>)</a:t>
            </a:r>
          </a:p>
          <a:p>
            <a:r>
              <a:rPr lang="zh-TW" altLang="en-US" sz="2400" dirty="0"/>
              <a:t>出場</a:t>
            </a:r>
            <a:endParaRPr lang="en-US" altLang="zh-TW" sz="2400" dirty="0"/>
          </a:p>
          <a:p>
            <a:pPr lvl="1"/>
            <a:r>
              <a:rPr lang="en-US" altLang="zh-TW" sz="2000" dirty="0"/>
              <a:t>EMA</a:t>
            </a:r>
            <a:r>
              <a:rPr lang="zh-TW" altLang="en-US" sz="2000" dirty="0"/>
              <a:t>快線</a:t>
            </a:r>
            <a:r>
              <a:rPr lang="en-US" altLang="zh-TW" sz="2000" dirty="0"/>
              <a:t>(</a:t>
            </a:r>
            <a:r>
              <a:rPr lang="zh-TW" altLang="en-US" sz="2000" dirty="0"/>
              <a:t>大戶買進</a:t>
            </a:r>
            <a:r>
              <a:rPr lang="en-US" altLang="zh-TW" sz="2000" dirty="0"/>
              <a:t>)</a:t>
            </a:r>
            <a:r>
              <a:rPr lang="zh-TW" altLang="en-US" sz="2000" dirty="0"/>
              <a:t>跌破</a:t>
            </a:r>
            <a:r>
              <a:rPr lang="en-US" altLang="zh-TW" sz="2000" dirty="0"/>
              <a:t>EMA</a:t>
            </a:r>
            <a:r>
              <a:rPr lang="zh-TW" altLang="en-US" sz="2000" dirty="0"/>
              <a:t>慢線</a:t>
            </a:r>
            <a:r>
              <a:rPr lang="en-US" altLang="zh-TW" sz="2000" dirty="0"/>
              <a:t>(</a:t>
            </a:r>
            <a:r>
              <a:rPr lang="zh-TW" altLang="en-US" sz="2000" dirty="0"/>
              <a:t>散戶買進</a:t>
            </a:r>
            <a:r>
              <a:rPr lang="en-US" altLang="zh-TW" sz="2000" dirty="0"/>
              <a:t>)</a:t>
            </a:r>
          </a:p>
          <a:p>
            <a:pPr lvl="1"/>
            <a:r>
              <a:rPr lang="en-US" altLang="zh-TW" sz="2000" dirty="0"/>
              <a:t>0.5%</a:t>
            </a:r>
            <a:r>
              <a:rPr lang="zh-TW" altLang="en-US" sz="2000" dirty="0"/>
              <a:t>止損</a:t>
            </a:r>
            <a:endParaRPr lang="en-US" altLang="zh-TW" sz="20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B398398-C31C-4442-A520-D6612CB33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021" y="0"/>
            <a:ext cx="1543979" cy="132556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6F0F850B-6AD6-4231-AC12-F4F572BF1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304" y="543572"/>
            <a:ext cx="3954733" cy="577085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8FB926F-4CDE-4060-96E7-653ADF5672E7}"/>
              </a:ext>
            </a:extLst>
          </p:cNvPr>
          <p:cNvSpPr/>
          <p:nvPr/>
        </p:nvSpPr>
        <p:spPr>
          <a:xfrm>
            <a:off x="6511611" y="1783947"/>
            <a:ext cx="4128118" cy="20913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D24D3B-53AF-49B4-BF68-3BE1084767D0}"/>
              </a:ext>
            </a:extLst>
          </p:cNvPr>
          <p:cNvSpPr/>
          <p:nvPr/>
        </p:nvSpPr>
        <p:spPr>
          <a:xfrm>
            <a:off x="6511611" y="3219866"/>
            <a:ext cx="4128118" cy="20913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FCF4C41-A93B-4BA7-B291-5C945DAC867A}"/>
              </a:ext>
            </a:extLst>
          </p:cNvPr>
          <p:cNvSpPr/>
          <p:nvPr/>
        </p:nvSpPr>
        <p:spPr>
          <a:xfrm>
            <a:off x="6511611" y="4242917"/>
            <a:ext cx="4128118" cy="20913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BC80605-A5DB-4F6A-A6CA-ADB817313C2A}"/>
              </a:ext>
            </a:extLst>
          </p:cNvPr>
          <p:cNvSpPr/>
          <p:nvPr/>
        </p:nvSpPr>
        <p:spPr>
          <a:xfrm>
            <a:off x="6523114" y="5450281"/>
            <a:ext cx="4128118" cy="20913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E0B5F4-F5C9-4970-A96B-9B06CC6EBEBB}"/>
              </a:ext>
            </a:extLst>
          </p:cNvPr>
          <p:cNvSpPr/>
          <p:nvPr/>
        </p:nvSpPr>
        <p:spPr>
          <a:xfrm>
            <a:off x="6511611" y="5837861"/>
            <a:ext cx="4128118" cy="20913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468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F8762C1-3435-46F2-8CE6-D994A8F81B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32" y="665825"/>
            <a:ext cx="10529935" cy="5360217"/>
          </a:xfr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22D2D1BE-6DF8-4F25-BC5A-BE2F722383A5}"/>
              </a:ext>
            </a:extLst>
          </p:cNvPr>
          <p:cNvCxnSpPr>
            <a:cxnSpLocks/>
          </p:cNvCxnSpPr>
          <p:nvPr/>
        </p:nvCxnSpPr>
        <p:spPr>
          <a:xfrm flipV="1">
            <a:off x="7874493" y="206405"/>
            <a:ext cx="0" cy="644519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261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A385C7-EEAA-4C15-8257-D5355F92D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TW" altLang="en-US" dirty="0"/>
              <a:t>夜盤多單策略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4E4DB6-504D-43B1-8DA0-E203B8BD2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/>
              <a:t>日盤</a:t>
            </a:r>
            <a:r>
              <a:rPr lang="en-US" altLang="zh-TW" sz="2400" dirty="0"/>
              <a:t>15:30-4:30</a:t>
            </a:r>
          </a:p>
          <a:p>
            <a:r>
              <a:rPr lang="zh-TW" altLang="en-US" sz="2400" dirty="0"/>
              <a:t>進場</a:t>
            </a:r>
            <a:endParaRPr lang="en-US" altLang="zh-TW" sz="2400" dirty="0"/>
          </a:p>
          <a:p>
            <a:pPr lvl="1"/>
            <a:r>
              <a:rPr lang="en-US" altLang="zh-TW" sz="2000" dirty="0"/>
              <a:t>MACD</a:t>
            </a:r>
            <a:r>
              <a:rPr lang="zh-TW" altLang="en-US" sz="2000" dirty="0"/>
              <a:t>突破訊號線</a:t>
            </a:r>
            <a:endParaRPr lang="en-US" altLang="zh-TW" sz="2000" dirty="0"/>
          </a:p>
          <a:p>
            <a:pPr lvl="1"/>
            <a:r>
              <a:rPr lang="en-US" altLang="zh-TW" sz="2000" dirty="0"/>
              <a:t>EMA</a:t>
            </a:r>
            <a:r>
              <a:rPr lang="zh-TW" altLang="en-US" sz="2000" dirty="0"/>
              <a:t>快線</a:t>
            </a:r>
            <a:r>
              <a:rPr lang="en-US" altLang="zh-TW" sz="2000" dirty="0"/>
              <a:t>(</a:t>
            </a:r>
            <a:r>
              <a:rPr lang="zh-TW" altLang="en-US" sz="2000" dirty="0"/>
              <a:t>大戶買進</a:t>
            </a:r>
            <a:r>
              <a:rPr lang="en-US" altLang="zh-TW" sz="2000" dirty="0"/>
              <a:t>)</a:t>
            </a:r>
            <a:r>
              <a:rPr lang="zh-TW" altLang="en-US" sz="2000" dirty="0"/>
              <a:t>突破</a:t>
            </a:r>
            <a:r>
              <a:rPr lang="en-US" altLang="zh-TW" sz="2000" dirty="0"/>
              <a:t>EMA</a:t>
            </a:r>
            <a:r>
              <a:rPr lang="zh-TW" altLang="en-US" sz="2000" dirty="0"/>
              <a:t>慢線</a:t>
            </a:r>
            <a:r>
              <a:rPr lang="en-US" altLang="zh-TW" sz="2000" dirty="0"/>
              <a:t>(</a:t>
            </a:r>
            <a:r>
              <a:rPr lang="zh-TW" altLang="en-US" sz="2000" dirty="0"/>
              <a:t>散戶買進</a:t>
            </a:r>
            <a:r>
              <a:rPr lang="en-US" altLang="zh-TW" sz="2000" dirty="0"/>
              <a:t>)</a:t>
            </a:r>
          </a:p>
          <a:p>
            <a:r>
              <a:rPr lang="zh-TW" altLang="en-US" sz="2400" dirty="0"/>
              <a:t>出場</a:t>
            </a:r>
            <a:endParaRPr lang="en-US" altLang="zh-TW" sz="2400" dirty="0"/>
          </a:p>
          <a:p>
            <a:pPr lvl="1"/>
            <a:r>
              <a:rPr lang="en-US" altLang="zh-TW" sz="2000" dirty="0"/>
              <a:t>MACD</a:t>
            </a:r>
            <a:r>
              <a:rPr lang="zh-TW" altLang="en-US" sz="2000" dirty="0"/>
              <a:t>跌破訊號線</a:t>
            </a:r>
            <a:endParaRPr lang="en-US" altLang="zh-TW" sz="2000" dirty="0"/>
          </a:p>
          <a:p>
            <a:pPr lvl="1"/>
            <a:r>
              <a:rPr lang="en-US" altLang="zh-TW" sz="2000" dirty="0"/>
              <a:t>EMA</a:t>
            </a:r>
            <a:r>
              <a:rPr lang="zh-TW" altLang="en-US" sz="2000" dirty="0"/>
              <a:t>快線</a:t>
            </a:r>
            <a:r>
              <a:rPr lang="en-US" altLang="zh-TW" sz="2000" dirty="0"/>
              <a:t>(</a:t>
            </a:r>
            <a:r>
              <a:rPr lang="zh-TW" altLang="en-US" sz="2000" dirty="0"/>
              <a:t>大戶買進</a:t>
            </a:r>
            <a:r>
              <a:rPr lang="en-US" altLang="zh-TW" sz="2000" dirty="0"/>
              <a:t>)</a:t>
            </a:r>
            <a:r>
              <a:rPr lang="zh-TW" altLang="en-US" sz="2000" dirty="0"/>
              <a:t>跌破</a:t>
            </a:r>
            <a:r>
              <a:rPr lang="en-US" altLang="zh-TW" sz="2000" dirty="0"/>
              <a:t>EMA</a:t>
            </a:r>
            <a:r>
              <a:rPr lang="zh-TW" altLang="en-US" sz="2000" dirty="0"/>
              <a:t>慢線</a:t>
            </a:r>
            <a:r>
              <a:rPr lang="en-US" altLang="zh-TW" sz="2000" dirty="0"/>
              <a:t>(</a:t>
            </a:r>
            <a:r>
              <a:rPr lang="zh-TW" altLang="en-US" sz="2000" dirty="0"/>
              <a:t>散戶買進</a:t>
            </a:r>
            <a:r>
              <a:rPr lang="en-US" altLang="zh-TW" sz="2000" dirty="0"/>
              <a:t>)</a:t>
            </a:r>
          </a:p>
          <a:p>
            <a:pPr lvl="1"/>
            <a:r>
              <a:rPr lang="en-US" altLang="zh-TW" sz="2000" dirty="0"/>
              <a:t>0.5%</a:t>
            </a:r>
            <a:r>
              <a:rPr lang="zh-TW" altLang="en-US" sz="2000" dirty="0"/>
              <a:t>止損</a:t>
            </a:r>
            <a:endParaRPr lang="en-US" altLang="zh-TW" sz="20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C6E8325-E659-4A34-A612-752AD2E43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2372" y="1"/>
            <a:ext cx="1439628" cy="160685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F865F201-2F9C-43AE-A03F-7648223E6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001" y="534371"/>
            <a:ext cx="3938733" cy="578925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B2AACDA-8838-47EA-96A7-3F11DDCF35D1}"/>
              </a:ext>
            </a:extLst>
          </p:cNvPr>
          <p:cNvSpPr/>
          <p:nvPr/>
        </p:nvSpPr>
        <p:spPr>
          <a:xfrm>
            <a:off x="6624254" y="1776105"/>
            <a:ext cx="4128118" cy="20913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1E8DE09-0C0A-49B3-9452-22565FB95006}"/>
              </a:ext>
            </a:extLst>
          </p:cNvPr>
          <p:cNvSpPr/>
          <p:nvPr/>
        </p:nvSpPr>
        <p:spPr>
          <a:xfrm>
            <a:off x="6608308" y="3219867"/>
            <a:ext cx="4128118" cy="20913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289B201-FDC9-4D48-84E0-D810AED39941}"/>
              </a:ext>
            </a:extLst>
          </p:cNvPr>
          <p:cNvSpPr/>
          <p:nvPr/>
        </p:nvSpPr>
        <p:spPr>
          <a:xfrm>
            <a:off x="6624254" y="4224524"/>
            <a:ext cx="4128118" cy="20913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2A60482-DE82-4FA1-A796-13744DD4BF44}"/>
              </a:ext>
            </a:extLst>
          </p:cNvPr>
          <p:cNvSpPr/>
          <p:nvPr/>
        </p:nvSpPr>
        <p:spPr>
          <a:xfrm>
            <a:off x="6624254" y="5459153"/>
            <a:ext cx="4128118" cy="20913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23F8DC-D661-4144-B642-3F12EFEAD583}"/>
              </a:ext>
            </a:extLst>
          </p:cNvPr>
          <p:cNvSpPr/>
          <p:nvPr/>
        </p:nvSpPr>
        <p:spPr>
          <a:xfrm>
            <a:off x="6624254" y="5837532"/>
            <a:ext cx="4128118" cy="20913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856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D78631E-D215-4244-9483-95F4C17214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601" y="720674"/>
            <a:ext cx="10640797" cy="5416651"/>
          </a:xfr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D7CFF817-5B5D-4E6B-AAC7-66B86A826656}"/>
              </a:ext>
            </a:extLst>
          </p:cNvPr>
          <p:cNvCxnSpPr>
            <a:cxnSpLocks/>
          </p:cNvCxnSpPr>
          <p:nvPr/>
        </p:nvCxnSpPr>
        <p:spPr>
          <a:xfrm flipV="1">
            <a:off x="7865615" y="117629"/>
            <a:ext cx="0" cy="644519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696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A5608E4A-286F-4781-B397-1495CECAF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621" y="596595"/>
            <a:ext cx="3952820" cy="585189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AAA385C7-EEAA-4C15-8257-D5355F92D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TW" altLang="en-US" dirty="0"/>
              <a:t>夜盤空單策略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4E4DB6-504D-43B1-8DA0-E203B8BD2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/>
              <a:t>日盤</a:t>
            </a:r>
            <a:r>
              <a:rPr lang="en-US" altLang="zh-TW" sz="2400" dirty="0"/>
              <a:t>15:30-4:30</a:t>
            </a:r>
          </a:p>
          <a:p>
            <a:r>
              <a:rPr lang="zh-TW" altLang="en-US" sz="2400" dirty="0"/>
              <a:t>進場</a:t>
            </a:r>
            <a:endParaRPr lang="en-US" altLang="zh-TW" sz="2400" dirty="0"/>
          </a:p>
          <a:p>
            <a:pPr lvl="1"/>
            <a:r>
              <a:rPr lang="zh-TW" altLang="en-US" sz="2000" dirty="0"/>
              <a:t>威廉指標 </a:t>
            </a:r>
            <a:r>
              <a:rPr lang="en-US" altLang="zh-TW" sz="2000" dirty="0"/>
              <a:t>&gt;</a:t>
            </a:r>
            <a:r>
              <a:rPr lang="zh-TW" altLang="en-US" sz="2000" dirty="0"/>
              <a:t> </a:t>
            </a:r>
            <a:r>
              <a:rPr lang="en-US" altLang="zh-TW" sz="2000" dirty="0"/>
              <a:t>-20%</a:t>
            </a:r>
            <a:r>
              <a:rPr lang="zh-TW" altLang="en-US" sz="2000" dirty="0"/>
              <a:t> </a:t>
            </a:r>
            <a:r>
              <a:rPr lang="en-US" altLang="zh-TW" sz="2000" dirty="0"/>
              <a:t>(</a:t>
            </a:r>
            <a:r>
              <a:rPr lang="zh-TW" altLang="en-US" sz="2000" dirty="0"/>
              <a:t>超買</a:t>
            </a:r>
            <a:r>
              <a:rPr lang="en-US" altLang="zh-TW" sz="2000" dirty="0"/>
              <a:t>)</a:t>
            </a:r>
          </a:p>
          <a:p>
            <a:pPr lvl="1"/>
            <a:r>
              <a:rPr lang="en-US" altLang="zh-TW" sz="2000" dirty="0"/>
              <a:t>EMA</a:t>
            </a:r>
            <a:r>
              <a:rPr lang="zh-TW" altLang="en-US" sz="2000" dirty="0"/>
              <a:t>快線</a:t>
            </a:r>
            <a:r>
              <a:rPr lang="en-US" altLang="zh-TW" sz="2000" dirty="0"/>
              <a:t>(</a:t>
            </a:r>
            <a:r>
              <a:rPr lang="zh-TW" altLang="en-US" sz="2000" dirty="0"/>
              <a:t>大戶買進</a:t>
            </a:r>
            <a:r>
              <a:rPr lang="en-US" altLang="zh-TW" sz="2000" dirty="0"/>
              <a:t>)</a:t>
            </a:r>
            <a:r>
              <a:rPr lang="zh-TW" altLang="en-US" sz="2000" dirty="0"/>
              <a:t>突破</a:t>
            </a:r>
            <a:r>
              <a:rPr lang="en-US" altLang="zh-TW" sz="2000" dirty="0"/>
              <a:t>EMA</a:t>
            </a:r>
            <a:r>
              <a:rPr lang="zh-TW" altLang="en-US" sz="2000" dirty="0"/>
              <a:t>慢線</a:t>
            </a:r>
            <a:r>
              <a:rPr lang="en-US" altLang="zh-TW" sz="2000" dirty="0"/>
              <a:t>(</a:t>
            </a:r>
            <a:r>
              <a:rPr lang="zh-TW" altLang="en-US" sz="2000" dirty="0"/>
              <a:t>散戶買進</a:t>
            </a:r>
            <a:r>
              <a:rPr lang="en-US" altLang="zh-TW" sz="2000" dirty="0"/>
              <a:t>)</a:t>
            </a:r>
          </a:p>
          <a:p>
            <a:r>
              <a:rPr lang="zh-TW" altLang="en-US" sz="2400" dirty="0"/>
              <a:t>出場</a:t>
            </a:r>
            <a:endParaRPr lang="en-US" altLang="zh-TW" sz="2400" dirty="0"/>
          </a:p>
          <a:p>
            <a:pPr lvl="1"/>
            <a:r>
              <a:rPr lang="en-US" altLang="zh-TW" sz="2000" dirty="0"/>
              <a:t>EMA</a:t>
            </a:r>
            <a:r>
              <a:rPr lang="zh-TW" altLang="en-US" sz="2000" dirty="0"/>
              <a:t>快線</a:t>
            </a:r>
            <a:r>
              <a:rPr lang="en-US" altLang="zh-TW" sz="2000" dirty="0"/>
              <a:t>(</a:t>
            </a:r>
            <a:r>
              <a:rPr lang="zh-TW" altLang="en-US" sz="2000" dirty="0"/>
              <a:t>大戶買進</a:t>
            </a:r>
            <a:r>
              <a:rPr lang="en-US" altLang="zh-TW" sz="2000" dirty="0"/>
              <a:t>)</a:t>
            </a:r>
            <a:r>
              <a:rPr lang="zh-TW" altLang="en-US" sz="2000" dirty="0"/>
              <a:t>跌破</a:t>
            </a:r>
            <a:r>
              <a:rPr lang="en-US" altLang="zh-TW" sz="2000" dirty="0"/>
              <a:t>EMA</a:t>
            </a:r>
            <a:r>
              <a:rPr lang="zh-TW" altLang="en-US" sz="2000" dirty="0"/>
              <a:t>慢線</a:t>
            </a:r>
            <a:r>
              <a:rPr lang="en-US" altLang="zh-TW" sz="2000" dirty="0"/>
              <a:t>(</a:t>
            </a:r>
            <a:r>
              <a:rPr lang="zh-TW" altLang="en-US" sz="2000" dirty="0"/>
              <a:t>散戶買進</a:t>
            </a:r>
            <a:r>
              <a:rPr lang="en-US" altLang="zh-TW" sz="2000" dirty="0"/>
              <a:t>)</a:t>
            </a:r>
          </a:p>
          <a:p>
            <a:pPr lvl="1"/>
            <a:r>
              <a:rPr lang="en-US" altLang="zh-TW" sz="2000" dirty="0"/>
              <a:t>0.5%</a:t>
            </a:r>
            <a:r>
              <a:rPr lang="zh-TW" altLang="en-US" sz="2000" dirty="0"/>
              <a:t>止損</a:t>
            </a:r>
            <a:endParaRPr lang="en-US" altLang="zh-TW" sz="20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22A2F61-8A96-49A8-BE0B-C3817DC09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5090" y="0"/>
            <a:ext cx="1376910" cy="114521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E595DBB-7D84-431C-8738-678BBA720616}"/>
              </a:ext>
            </a:extLst>
          </p:cNvPr>
          <p:cNvSpPr/>
          <p:nvPr/>
        </p:nvSpPr>
        <p:spPr>
          <a:xfrm>
            <a:off x="6686972" y="1825625"/>
            <a:ext cx="4128118" cy="27167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9195C3-94D7-42DB-B6FE-06157FEC9439}"/>
              </a:ext>
            </a:extLst>
          </p:cNvPr>
          <p:cNvSpPr/>
          <p:nvPr/>
        </p:nvSpPr>
        <p:spPr>
          <a:xfrm>
            <a:off x="6709063" y="3293161"/>
            <a:ext cx="4128118" cy="27167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F04DDF-72D8-4262-AF7D-70AF50CE04EA}"/>
              </a:ext>
            </a:extLst>
          </p:cNvPr>
          <p:cNvSpPr/>
          <p:nvPr/>
        </p:nvSpPr>
        <p:spPr>
          <a:xfrm>
            <a:off x="6709063" y="4280062"/>
            <a:ext cx="4128118" cy="27167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AE3CD4E-FBD5-423B-9CFA-38692B0AFF45}"/>
              </a:ext>
            </a:extLst>
          </p:cNvPr>
          <p:cNvSpPr/>
          <p:nvPr/>
        </p:nvSpPr>
        <p:spPr>
          <a:xfrm>
            <a:off x="6686972" y="5584054"/>
            <a:ext cx="4128118" cy="1942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9C4D897-9637-4C48-8783-E2F8CB37ED93}"/>
              </a:ext>
            </a:extLst>
          </p:cNvPr>
          <p:cNvSpPr/>
          <p:nvPr/>
        </p:nvSpPr>
        <p:spPr>
          <a:xfrm>
            <a:off x="6709063" y="5931347"/>
            <a:ext cx="4106027" cy="27167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763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0955609-157F-40C1-8E58-90F9034470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029" y="859862"/>
            <a:ext cx="10093941" cy="5138276"/>
          </a:xfr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838CD65E-3F0B-45E1-9BCA-5C04152E0146}"/>
              </a:ext>
            </a:extLst>
          </p:cNvPr>
          <p:cNvCxnSpPr>
            <a:cxnSpLocks/>
          </p:cNvCxnSpPr>
          <p:nvPr/>
        </p:nvCxnSpPr>
        <p:spPr>
          <a:xfrm flipV="1">
            <a:off x="7945514" y="206405"/>
            <a:ext cx="0" cy="644519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358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C88C51-6A3A-4392-B5B1-E2538B602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日夜盤多空單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68705F2-71D7-489C-8129-7A90FB6B5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923" y="0"/>
            <a:ext cx="2087077" cy="440332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0FA75CC-86F1-42BE-86DA-095FCCE20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723" y="514882"/>
            <a:ext cx="3999938" cy="582823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D777794-9A84-4562-8C34-D5B9488F5C89}"/>
              </a:ext>
            </a:extLst>
          </p:cNvPr>
          <p:cNvSpPr/>
          <p:nvPr/>
        </p:nvSpPr>
        <p:spPr>
          <a:xfrm>
            <a:off x="4952632" y="1784135"/>
            <a:ext cx="4155857" cy="20446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F5A5AA-77D6-40C8-BB5A-C8805EB14882}"/>
              </a:ext>
            </a:extLst>
          </p:cNvPr>
          <p:cNvSpPr/>
          <p:nvPr/>
        </p:nvSpPr>
        <p:spPr>
          <a:xfrm>
            <a:off x="4952632" y="3224537"/>
            <a:ext cx="4155857" cy="20446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554AA3-9C50-44A6-96DE-98C2F29424E0}"/>
              </a:ext>
            </a:extLst>
          </p:cNvPr>
          <p:cNvSpPr/>
          <p:nvPr/>
        </p:nvSpPr>
        <p:spPr>
          <a:xfrm>
            <a:off x="4942650" y="4208795"/>
            <a:ext cx="4155857" cy="30106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90A4F5-538B-4FAC-B0EE-F6F3093BA9A4}"/>
              </a:ext>
            </a:extLst>
          </p:cNvPr>
          <p:cNvSpPr/>
          <p:nvPr/>
        </p:nvSpPr>
        <p:spPr>
          <a:xfrm>
            <a:off x="4938763" y="5498666"/>
            <a:ext cx="4155857" cy="2185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6B8D8FF-BEAE-4A9E-9A3A-3C9922DCB5FC}"/>
              </a:ext>
            </a:extLst>
          </p:cNvPr>
          <p:cNvSpPr/>
          <p:nvPr/>
        </p:nvSpPr>
        <p:spPr>
          <a:xfrm>
            <a:off x="4952632" y="5917159"/>
            <a:ext cx="4155857" cy="2185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530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7F8E46F-E298-475F-A3D0-70ADE976D5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300" y="760624"/>
            <a:ext cx="10575399" cy="5336751"/>
          </a:xfrm>
        </p:spPr>
      </p:pic>
    </p:spTree>
    <p:extLst>
      <p:ext uri="{BB962C8B-B14F-4D97-AF65-F5344CB8AC3E}">
        <p14:creationId xmlns:p14="http://schemas.microsoft.com/office/powerpoint/2010/main" val="1748052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1436</TotalTime>
  <Words>294</Words>
  <Application>Microsoft Office PowerPoint</Application>
  <PresentationFormat>寬螢幕</PresentationFormat>
  <Paragraphs>51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8" baseType="lpstr">
      <vt:lpstr>新細明體</vt:lpstr>
      <vt:lpstr>Arial</vt:lpstr>
      <vt:lpstr>Calibri</vt:lpstr>
      <vt:lpstr>Calibri Light</vt:lpstr>
      <vt:lpstr>Office 佈景主題</vt:lpstr>
      <vt:lpstr>策略報告</vt:lpstr>
      <vt:lpstr>使用資料</vt:lpstr>
      <vt:lpstr>使用指標</vt:lpstr>
      <vt:lpstr>日盤多單策略</vt:lpstr>
      <vt:lpstr>PowerPoint 簡報</vt:lpstr>
      <vt:lpstr>日盤空單策略</vt:lpstr>
      <vt:lpstr>PowerPoint 簡報</vt:lpstr>
      <vt:lpstr>夜盤多單策略</vt:lpstr>
      <vt:lpstr>PowerPoint 簡報</vt:lpstr>
      <vt:lpstr>夜盤空單策略</vt:lpstr>
      <vt:lpstr>PowerPoint 簡報</vt:lpstr>
      <vt:lpstr>日夜盤多空單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策略報告</dc:title>
  <dc:creator>陳禹辰</dc:creator>
  <cp:lastModifiedBy>陳禹辰</cp:lastModifiedBy>
  <cp:revision>126</cp:revision>
  <dcterms:created xsi:type="dcterms:W3CDTF">2024-04-15T14:21:33Z</dcterms:created>
  <dcterms:modified xsi:type="dcterms:W3CDTF">2024-04-23T16:08:44Z</dcterms:modified>
</cp:coreProperties>
</file>