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1" autoAdjust="0"/>
    <p:restoredTop sz="82506" autoAdjust="0"/>
  </p:normalViewPr>
  <p:slideViewPr>
    <p:cSldViewPr snapToGrid="0">
      <p:cViewPr varScale="1">
        <p:scale>
          <a:sx n="123" d="100"/>
          <a:sy n="123" d="100"/>
        </p:scale>
        <p:origin x="894" y="10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dd3c7d2be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dd3c7d2be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-Lib/ta-lib-python/tree/master/docs/func_group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HW</a:t>
            </a:r>
            <a:r>
              <a:rPr lang="en-US" altLang="zh-TW" dirty="0"/>
              <a:t>4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截止日到</a:t>
            </a:r>
            <a:r>
              <a:rPr lang="en-US" altLang="zh-TW" dirty="0"/>
              <a:t>4/26(</a:t>
            </a:r>
            <a:r>
              <a:rPr lang="zh-TW" altLang="en-US" dirty="0"/>
              <a:t>五</a:t>
            </a:r>
            <a:r>
              <a:rPr lang="en-US" altLang="zh-TW" dirty="0"/>
              <a:t>)</a:t>
            </a:r>
            <a:r>
              <a:rPr lang="zh-TW" dirty="0"/>
              <a:t> </a:t>
            </a:r>
            <a:r>
              <a:rPr lang="en-US" altLang="zh-TW" dirty="0"/>
              <a:t>23:59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指標練習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315204"/>
            <a:ext cx="8645700" cy="37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chemeClr val="tx1"/>
                </a:solidFill>
              </a:rPr>
              <a:t>使用</a:t>
            </a:r>
            <a:r>
              <a:rPr lang="en-US" altLang="zh-TW" dirty="0">
                <a:solidFill>
                  <a:schemeClr val="tx1"/>
                </a:solidFill>
              </a:rPr>
              <a:t>TXF_1T_20240415.csv</a:t>
            </a:r>
            <a:r>
              <a:rPr lang="zh-TW" altLang="en-US" dirty="0">
                <a:solidFill>
                  <a:schemeClr val="tx1"/>
                </a:solidFill>
              </a:rPr>
              <a:t>資料，練習：</a:t>
            </a:r>
            <a:endParaRPr lang="en-US" altLang="zh-TW" dirty="0">
              <a:solidFill>
                <a:schemeClr val="tx1"/>
              </a:solidFill>
            </a:endParaRPr>
          </a:p>
          <a:p>
            <a:pPr marL="34290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dirty="0">
                <a:solidFill>
                  <a:schemeClr val="tx1"/>
                </a:solidFill>
              </a:rPr>
              <a:t>計算大戶買進的</a:t>
            </a:r>
            <a:r>
              <a:rPr lang="en-US" altLang="zh-TW" dirty="0">
                <a:solidFill>
                  <a:schemeClr val="tx1"/>
                </a:solidFill>
              </a:rPr>
              <a:t>RSI</a:t>
            </a:r>
            <a:r>
              <a:rPr lang="zh-TW" altLang="en-US" dirty="0">
                <a:solidFill>
                  <a:schemeClr val="tx1"/>
                </a:solidFill>
              </a:rPr>
              <a:t>，週期為</a:t>
            </a:r>
            <a:r>
              <a:rPr lang="en-US" altLang="zh-TW" dirty="0">
                <a:solidFill>
                  <a:schemeClr val="tx1"/>
                </a:solidFill>
              </a:rPr>
              <a:t>15</a:t>
            </a:r>
            <a:r>
              <a:rPr lang="zh-TW" altLang="en-US" dirty="0">
                <a:solidFill>
                  <a:schemeClr val="tx1"/>
                </a:solidFill>
              </a:rPr>
              <a:t>根</a:t>
            </a:r>
            <a:r>
              <a:rPr lang="en-US" altLang="zh-TW" dirty="0">
                <a:solidFill>
                  <a:schemeClr val="tx1"/>
                </a:solidFill>
              </a:rPr>
              <a:t>1</a:t>
            </a:r>
            <a:r>
              <a:rPr lang="zh-TW" altLang="en-US" dirty="0">
                <a:solidFill>
                  <a:schemeClr val="tx1"/>
                </a:solidFill>
              </a:rPr>
              <a:t>分</a:t>
            </a:r>
            <a:r>
              <a:rPr lang="en-US" altLang="zh-TW" dirty="0">
                <a:solidFill>
                  <a:schemeClr val="tx1"/>
                </a:solidFill>
              </a:rPr>
              <a:t>K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5</a:t>
            </a:r>
            <a:r>
              <a:rPr lang="zh-TW" altLang="en-US" dirty="0">
                <a:solidFill>
                  <a:schemeClr val="tx1"/>
                </a:solidFill>
              </a:rPr>
              <a:t>根</a:t>
            </a:r>
            <a:r>
              <a:rPr lang="en-US" altLang="zh-TW" dirty="0">
                <a:solidFill>
                  <a:schemeClr val="tx1"/>
                </a:solidFill>
              </a:rPr>
              <a:t>3</a:t>
            </a:r>
            <a:r>
              <a:rPr lang="zh-TW" altLang="en-US" dirty="0">
                <a:solidFill>
                  <a:schemeClr val="tx1"/>
                </a:solidFill>
              </a:rPr>
              <a:t>分</a:t>
            </a:r>
            <a:r>
              <a:rPr lang="en-US" altLang="zh-TW" dirty="0">
                <a:solidFill>
                  <a:schemeClr val="tx1"/>
                </a:solidFill>
              </a:rPr>
              <a:t>K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3</a:t>
            </a:r>
            <a:r>
              <a:rPr lang="zh-TW" altLang="en-US" dirty="0">
                <a:solidFill>
                  <a:schemeClr val="tx1"/>
                </a:solidFill>
              </a:rPr>
              <a:t>根</a:t>
            </a:r>
            <a:r>
              <a:rPr lang="en-US" altLang="zh-TW" dirty="0">
                <a:solidFill>
                  <a:schemeClr val="tx1"/>
                </a:solidFill>
              </a:rPr>
              <a:t>5</a:t>
            </a:r>
            <a:r>
              <a:rPr lang="zh-TW" altLang="en-US" dirty="0">
                <a:solidFill>
                  <a:schemeClr val="tx1"/>
                </a:solidFill>
              </a:rPr>
              <a:t>分</a:t>
            </a:r>
            <a:r>
              <a:rPr lang="en-US" altLang="zh-TW" dirty="0">
                <a:solidFill>
                  <a:schemeClr val="tx1"/>
                </a:solidFill>
              </a:rPr>
              <a:t>K</a:t>
            </a:r>
          </a:p>
          <a:p>
            <a:pPr marL="34290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dirty="0">
                <a:solidFill>
                  <a:schemeClr val="tx1"/>
                </a:solidFill>
              </a:rPr>
              <a:t>計算散戶買進的</a:t>
            </a:r>
            <a:r>
              <a:rPr lang="en-US" altLang="zh-TW" dirty="0">
                <a:solidFill>
                  <a:schemeClr val="tx1"/>
                </a:solidFill>
              </a:rPr>
              <a:t>EMA</a:t>
            </a:r>
            <a:r>
              <a:rPr lang="zh-TW" altLang="en-US" dirty="0">
                <a:solidFill>
                  <a:schemeClr val="tx1"/>
                </a:solidFill>
              </a:rPr>
              <a:t>，週期為</a:t>
            </a:r>
            <a:r>
              <a:rPr lang="en-US" altLang="zh-TW" dirty="0">
                <a:solidFill>
                  <a:schemeClr val="tx1"/>
                </a:solidFill>
              </a:rPr>
              <a:t>10</a:t>
            </a:r>
            <a:r>
              <a:rPr lang="zh-TW" altLang="en-US" dirty="0">
                <a:solidFill>
                  <a:schemeClr val="tx1"/>
                </a:solidFill>
              </a:rPr>
              <a:t>根</a:t>
            </a:r>
            <a:r>
              <a:rPr lang="en-US" altLang="zh-TW" dirty="0">
                <a:solidFill>
                  <a:schemeClr val="tx1"/>
                </a:solidFill>
              </a:rPr>
              <a:t>5</a:t>
            </a:r>
            <a:r>
              <a:rPr lang="zh-TW" altLang="en-US" dirty="0">
                <a:solidFill>
                  <a:schemeClr val="tx1"/>
                </a:solidFill>
              </a:rPr>
              <a:t>分</a:t>
            </a:r>
            <a:r>
              <a:rPr lang="en-US" altLang="zh-TW" dirty="0">
                <a:solidFill>
                  <a:schemeClr val="tx1"/>
                </a:solidFill>
              </a:rPr>
              <a:t>K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5</a:t>
            </a:r>
            <a:r>
              <a:rPr lang="zh-TW" altLang="en-US" dirty="0">
                <a:solidFill>
                  <a:schemeClr val="tx1"/>
                </a:solidFill>
              </a:rPr>
              <a:t>根</a:t>
            </a:r>
            <a:r>
              <a:rPr lang="en-US" altLang="zh-TW" dirty="0">
                <a:solidFill>
                  <a:schemeClr val="tx1"/>
                </a:solidFill>
              </a:rPr>
              <a:t>2</a:t>
            </a:r>
            <a:r>
              <a:rPr lang="zh-TW" altLang="en-US" dirty="0">
                <a:solidFill>
                  <a:schemeClr val="tx1"/>
                </a:solidFill>
              </a:rPr>
              <a:t>分</a:t>
            </a:r>
            <a:r>
              <a:rPr lang="en-US" altLang="zh-TW" dirty="0">
                <a:solidFill>
                  <a:schemeClr val="tx1"/>
                </a:solidFill>
              </a:rPr>
              <a:t>K</a:t>
            </a:r>
          </a:p>
          <a:p>
            <a:pPr marL="34290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dirty="0">
                <a:solidFill>
                  <a:schemeClr val="tx1"/>
                </a:solidFill>
              </a:rPr>
              <a:t>計算大戶掛單的</a:t>
            </a:r>
            <a:r>
              <a:rPr lang="en-US" altLang="zh-TW" dirty="0">
                <a:solidFill>
                  <a:schemeClr val="tx1"/>
                </a:solidFill>
              </a:rPr>
              <a:t>MACD</a:t>
            </a:r>
            <a:r>
              <a:rPr lang="zh-TW" altLang="en-US" dirty="0">
                <a:solidFill>
                  <a:schemeClr val="tx1"/>
                </a:solidFill>
              </a:rPr>
              <a:t>，使用</a:t>
            </a:r>
            <a:r>
              <a:rPr lang="en-US" altLang="zh-TW" dirty="0">
                <a:solidFill>
                  <a:schemeClr val="tx1"/>
                </a:solidFill>
              </a:rPr>
              <a:t>3</a:t>
            </a:r>
            <a:r>
              <a:rPr lang="zh-TW" altLang="en-US" dirty="0">
                <a:solidFill>
                  <a:schemeClr val="tx1"/>
                </a:solidFill>
              </a:rPr>
              <a:t>分</a:t>
            </a:r>
            <a:r>
              <a:rPr lang="en-US" altLang="zh-TW" dirty="0">
                <a:solidFill>
                  <a:schemeClr val="tx1"/>
                </a:solidFill>
              </a:rPr>
              <a:t>K</a:t>
            </a:r>
            <a:r>
              <a:rPr lang="zh-TW" altLang="en-US" dirty="0">
                <a:solidFill>
                  <a:schemeClr val="tx1"/>
                </a:solidFill>
              </a:rPr>
              <a:t>和快線週期</a:t>
            </a:r>
            <a:r>
              <a:rPr lang="en-US" altLang="zh-TW" dirty="0">
                <a:solidFill>
                  <a:schemeClr val="tx1"/>
                </a:solidFill>
              </a:rPr>
              <a:t>10</a:t>
            </a:r>
            <a:r>
              <a:rPr lang="zh-TW" altLang="en-US" dirty="0">
                <a:solidFill>
                  <a:schemeClr val="tx1"/>
                </a:solidFill>
              </a:rPr>
              <a:t>、慢線週期</a:t>
            </a:r>
            <a:r>
              <a:rPr lang="en-US" altLang="zh-TW" dirty="0">
                <a:solidFill>
                  <a:schemeClr val="tx1"/>
                </a:solidFill>
              </a:rPr>
              <a:t>30</a:t>
            </a:r>
            <a:r>
              <a:rPr lang="zh-TW" altLang="en-US" dirty="0">
                <a:solidFill>
                  <a:schemeClr val="tx1"/>
                </a:solidFill>
              </a:rPr>
              <a:t>、信號線週期</a:t>
            </a:r>
            <a:r>
              <a:rPr lang="en-US" altLang="zh-TW" dirty="0">
                <a:solidFill>
                  <a:schemeClr val="tx1"/>
                </a:solidFill>
              </a:rPr>
              <a:t>6</a:t>
            </a:r>
          </a:p>
          <a:p>
            <a:pPr marL="34290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dirty="0">
                <a:solidFill>
                  <a:schemeClr val="tx1"/>
                </a:solidFill>
              </a:rPr>
              <a:t>計算散戶掛單的</a:t>
            </a:r>
            <a:r>
              <a:rPr lang="en-US" altLang="zh-TW" dirty="0">
                <a:solidFill>
                  <a:schemeClr val="tx1"/>
                </a:solidFill>
              </a:rPr>
              <a:t>MOM(</a:t>
            </a:r>
            <a:r>
              <a:rPr lang="zh-TW" altLang="en-US" dirty="0">
                <a:solidFill>
                  <a:schemeClr val="tx1"/>
                </a:solidFill>
              </a:rPr>
              <a:t>動能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，週期為</a:t>
            </a:r>
            <a:r>
              <a:rPr lang="en-US" altLang="zh-TW" dirty="0">
                <a:solidFill>
                  <a:schemeClr val="tx1"/>
                </a:solidFill>
              </a:rPr>
              <a:t>5</a:t>
            </a:r>
            <a:r>
              <a:rPr lang="zh-TW" altLang="en-US" dirty="0">
                <a:solidFill>
                  <a:schemeClr val="tx1"/>
                </a:solidFill>
              </a:rPr>
              <a:t>根</a:t>
            </a:r>
            <a:r>
              <a:rPr lang="en-US" altLang="zh-TW" dirty="0">
                <a:solidFill>
                  <a:schemeClr val="tx1"/>
                </a:solidFill>
              </a:rPr>
              <a:t>10</a:t>
            </a:r>
            <a:r>
              <a:rPr lang="zh-TW" altLang="en-US" dirty="0">
                <a:solidFill>
                  <a:schemeClr val="tx1"/>
                </a:solidFill>
              </a:rPr>
              <a:t>分</a:t>
            </a:r>
            <a:r>
              <a:rPr lang="en-US" altLang="zh-TW" dirty="0">
                <a:solidFill>
                  <a:schemeClr val="tx1"/>
                </a:solidFill>
              </a:rPr>
              <a:t>K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7DDAA7A-7DC6-4460-BEAE-5236D6C0F663}"/>
              </a:ext>
            </a:extLst>
          </p:cNvPr>
          <p:cNvSpPr txBox="1"/>
          <p:nvPr/>
        </p:nvSpPr>
        <p:spPr>
          <a:xfrm>
            <a:off x="4114798" y="776666"/>
            <a:ext cx="4081183" cy="3758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lvl="1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zh-TW" altLang="en-US" dirty="0"/>
              <a:t>請使用</a:t>
            </a:r>
            <a:r>
              <a:rPr lang="en-US" altLang="zh-TW" dirty="0" err="1"/>
              <a:t>Jupyter</a:t>
            </a:r>
            <a:r>
              <a:rPr lang="en-US" altLang="zh-TW" dirty="0"/>
              <a:t> Notebook</a:t>
            </a:r>
            <a:r>
              <a:rPr lang="zh-TW" altLang="en-US" dirty="0"/>
              <a:t>，繳交</a:t>
            </a:r>
            <a:r>
              <a:rPr lang="en-US" altLang="zh-TW" dirty="0"/>
              <a:t>.</a:t>
            </a:r>
            <a:r>
              <a:rPr lang="en-US" altLang="zh-TW" sz="1400" dirty="0" err="1"/>
              <a:t>ipynb</a:t>
            </a:r>
            <a:r>
              <a:rPr lang="zh-TW" altLang="en-US" sz="1400" dirty="0"/>
              <a:t>檔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60E3C2-4BB0-450C-93C0-ED5C4FBB03E1}"/>
              </a:ext>
            </a:extLst>
          </p:cNvPr>
          <p:cNvSpPr txBox="1"/>
          <p:nvPr/>
        </p:nvSpPr>
        <p:spPr>
          <a:xfrm>
            <a:off x="311700" y="4366834"/>
            <a:ext cx="77646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可參考</a:t>
            </a:r>
            <a:r>
              <a:rPr lang="zh-TW" altLang="en-US" dirty="0">
                <a:hlinkClick r:id="rId3"/>
              </a:rPr>
              <a:t>https://github.com/TA-Lib/ta-lib-python/tree/master/docs/func_groups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187</Words>
  <Application>Microsoft Office PowerPoint</Application>
  <PresentationFormat>如螢幕大小 (16:9)</PresentationFormat>
  <Paragraphs>10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4" baseType="lpstr">
      <vt:lpstr>Arial</vt:lpstr>
      <vt:lpstr>Simple Light</vt:lpstr>
      <vt:lpstr>HW4</vt:lpstr>
      <vt:lpstr>指標練習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HW1</dc:title>
  <cp:lastModifiedBy>Gloria</cp:lastModifiedBy>
  <cp:revision>23</cp:revision>
  <dcterms:modified xsi:type="dcterms:W3CDTF">2024-04-18T13:11:28Z</dcterms:modified>
</cp:coreProperties>
</file>