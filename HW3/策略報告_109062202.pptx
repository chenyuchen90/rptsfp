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79" r:id="rId7"/>
    <p:sldId id="280" r:id="rId8"/>
    <p:sldId id="284" r:id="rId9"/>
    <p:sldId id="285" r:id="rId10"/>
    <p:sldId id="283" r:id="rId11"/>
    <p:sldId id="264" r:id="rId12"/>
    <p:sldId id="276" r:id="rId13"/>
    <p:sldId id="277" r:id="rId14"/>
    <p:sldId id="286" r:id="rId15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67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608EDE7-4673-47B1-B6E7-2DA5D501FB4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FC238B25-93AC-4883-ABA0-8F39E8A30E4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364DC99-EFC3-4F73-A569-3C09DDD9A8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DD2838-451A-4E7B-80FA-189A82C8EE06}" type="datetimeFigureOut">
              <a:rPr lang="zh-TW" altLang="en-US" smtClean="0"/>
              <a:t>2024/4/17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C405C12-B4C2-4505-AE5E-FB4ED7C182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45B576A-52ED-4D5A-BC01-65050C2AAA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27B8A3-FC38-4BD7-9B7E-C561E499CCA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803040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4493AD7-12EC-446D-935B-621EA1BF87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C98410B-4A93-4E34-A5BB-E62F8AE952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13E851C7-0EFF-4185-9E19-60A8EF224C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DD2838-451A-4E7B-80FA-189A82C8EE06}" type="datetimeFigureOut">
              <a:rPr lang="zh-TW" altLang="en-US" smtClean="0"/>
              <a:t>2024/4/17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1539E1C1-CECD-409C-ABC4-2FD2348218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013788FB-900B-4684-B2E9-8CDA682EC6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27B8A3-FC38-4BD7-9B7E-C561E499CCA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317968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5E23818-BAF2-4832-A86A-EF4C2C037F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5AAD5859-15F9-4F37-8987-6288775C2E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756B66DB-67F7-4501-9E20-E21C621F08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DD2838-451A-4E7B-80FA-189A82C8EE06}" type="datetimeFigureOut">
              <a:rPr lang="zh-TW" altLang="en-US" smtClean="0"/>
              <a:t>2024/4/17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94FEE847-8836-407A-A729-28AAF89C5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30013499-4B12-43F7-858B-4B4EDB6114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27B8A3-FC38-4BD7-9B7E-C561E499CCA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606962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94C4A82-16D7-4B7C-8CC6-6DDD972114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7C52152-30E9-468B-BD5C-05A5861B421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457AD075-C7CC-40D9-9C4B-870E947EA6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0A006D92-DF06-4661-A2C7-5A4DD01F0C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DD2838-451A-4E7B-80FA-189A82C8EE06}" type="datetimeFigureOut">
              <a:rPr lang="zh-TW" altLang="en-US" smtClean="0"/>
              <a:t>2024/4/17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F0EC48AF-3C04-4FD2-81EC-8C01357EF6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D9875210-E037-453C-8CDC-5EC3A9945A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27B8A3-FC38-4BD7-9B7E-C561E499CCA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132725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2052DA3-D7AA-41F9-AC6A-CAB2D5B8B0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A581C6CE-93AC-4295-8040-531D903BA3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2B132E0F-F1BE-42C4-9D1F-3AF9C6A01A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7AE4846E-567E-4F77-BBA9-EE453F45A8E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8CB3A5DA-94E5-47F3-A84C-9CC30AFF88B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21B75DD3-0A5F-4694-BAA8-AE13FA220E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DD2838-451A-4E7B-80FA-189A82C8EE06}" type="datetimeFigureOut">
              <a:rPr lang="zh-TW" altLang="en-US" smtClean="0"/>
              <a:t>2024/4/17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7F3B5EC2-7712-4CEE-BAD9-01DCFACDEE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0D2CDFF1-6AAB-462F-A8AA-13B693DAD6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27B8A3-FC38-4BD7-9B7E-C561E499CCA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407140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109C731-016E-456E-B36E-D64D1DFD3F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81B69018-B2E4-4498-AC37-F08DA1182A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DD2838-451A-4E7B-80FA-189A82C8EE06}" type="datetimeFigureOut">
              <a:rPr lang="zh-TW" altLang="en-US" smtClean="0"/>
              <a:t>2024/4/17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0573A1E2-4909-4A67-83D1-C1D48D4872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9C775CCD-9317-4A41-8E93-00E51AA07B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27B8A3-FC38-4BD7-9B7E-C561E499CCA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068619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67F04748-3B39-4609-9539-96833FB21F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DD2838-451A-4E7B-80FA-189A82C8EE06}" type="datetimeFigureOut">
              <a:rPr lang="zh-TW" altLang="en-US" smtClean="0"/>
              <a:t>2024/4/17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3FD908B0-98BD-4699-9F56-BC02673813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2250E78-D8CD-4B67-ACFE-AAC33FDCAC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27B8A3-FC38-4BD7-9B7E-C561E499CCA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136133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187E976-E8A0-412D-A51B-58B9380563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84C4C03-5DD5-44A4-8C35-968E51EDE4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63CFF93D-1022-4FCD-AFB2-C38DB22C63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6A9955C1-2032-4C74-989E-C5681AEBB4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DD2838-451A-4E7B-80FA-189A82C8EE06}" type="datetimeFigureOut">
              <a:rPr lang="zh-TW" altLang="en-US" smtClean="0"/>
              <a:t>2024/4/17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2C12337A-FE4A-4321-AFE4-8867DE7D2D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FD25434F-2031-40B8-B587-DDE88FA2A9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27B8A3-FC38-4BD7-9B7E-C561E499CCA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599816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7CDBB8C-44C6-4DD7-A1EA-1FDAAAC8EC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8156F7D0-7C10-413C-ADC3-8F704495DAC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78397C71-CA42-494F-ACE1-5A78074675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7CF1AF6F-C5D4-49B2-AAB9-7E4C9EB6DF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DD2838-451A-4E7B-80FA-189A82C8EE06}" type="datetimeFigureOut">
              <a:rPr lang="zh-TW" altLang="en-US" smtClean="0"/>
              <a:t>2024/4/17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060495A1-3E69-41C2-9EDF-722B2C085D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DD337CA7-CCE6-4F3C-92C4-F0AAC7173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27B8A3-FC38-4BD7-9B7E-C561E499CCA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128931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FC2C47B-4AAF-4288-A99A-8BAC89A4A4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A789B882-0988-4F9D-8322-A1346FF26B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2F5BB97-3DDA-4B0A-8A68-AED98AA19E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DD2838-451A-4E7B-80FA-189A82C8EE06}" type="datetimeFigureOut">
              <a:rPr lang="zh-TW" altLang="en-US" smtClean="0"/>
              <a:t>2024/4/17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9725F4B-65E0-4D22-BE8A-B19BBADE8E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398D2163-3DAE-41FF-ACAC-4327D91D8F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27B8A3-FC38-4BD7-9B7E-C561E499CCA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418000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E1E16FE4-E161-47A3-8555-0B8B7A528D0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F13C6EB2-C61B-4AAC-B763-55D6516EE9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27EDBE14-BE8A-4F7C-B3B2-CADFE58861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DD2838-451A-4E7B-80FA-189A82C8EE06}" type="datetimeFigureOut">
              <a:rPr lang="zh-TW" altLang="en-US" smtClean="0"/>
              <a:t>2024/4/17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19192FEA-D8D0-4B59-9EF4-C0AB7457B5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09D2D1C0-62E1-4B3A-8299-A039BED6B8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27B8A3-FC38-4BD7-9B7E-C561E499CCA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456207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AAE71E00-67E9-444E-851B-15D3C101B7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32BA0EA9-DEFA-49FC-ACD9-A7347AC243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2AD9472E-7D97-4FEE-911E-545910F068F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DD2838-451A-4E7B-80FA-189A82C8EE06}" type="datetimeFigureOut">
              <a:rPr lang="zh-TW" altLang="en-US" smtClean="0"/>
              <a:t>2024/4/17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F9C1334-5B1D-41DE-9E7A-C16095F588D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A0F73AC6-ADBF-4BAB-854F-42E35C62BAB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27B8A3-FC38-4BD7-9B7E-C561E499CCA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515426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562F98C-5E3B-498E-97F3-3DA6ADE7C1D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TW" altLang="en-US" dirty="0"/>
              <a:t>策略報告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32323738-3D17-4F24-B9A1-27CA4A66AB3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TW" altLang="en-US" dirty="0"/>
              <a:t>學號</a:t>
            </a:r>
            <a:r>
              <a:rPr lang="en-US" altLang="zh-TW" dirty="0"/>
              <a:t>:109062202	</a:t>
            </a:r>
            <a:r>
              <a:rPr lang="zh-TW" altLang="en-US" dirty="0"/>
              <a:t>姓名</a:t>
            </a:r>
            <a:r>
              <a:rPr lang="en-US" altLang="zh-TW" dirty="0"/>
              <a:t>:</a:t>
            </a:r>
            <a:r>
              <a:rPr lang="zh-TW" altLang="en-US" dirty="0"/>
              <a:t>陳禹辰</a:t>
            </a:r>
          </a:p>
        </p:txBody>
      </p:sp>
    </p:spTree>
    <p:extLst>
      <p:ext uri="{BB962C8B-B14F-4D97-AF65-F5344CB8AC3E}">
        <p14:creationId xmlns:p14="http://schemas.microsoft.com/office/powerpoint/2010/main" val="21459552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4D673D1-F62D-4DF4-9313-A2721BD0B6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使用資料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18637D7-1372-40D2-B9F3-D0631D86E6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台指期</a:t>
            </a:r>
            <a:endParaRPr lang="en-US" altLang="zh-TW" dirty="0"/>
          </a:p>
          <a:p>
            <a:r>
              <a:rPr lang="zh-TW" altLang="en-US" dirty="0"/>
              <a:t>日盤、夜盤 </a:t>
            </a:r>
            <a:r>
              <a:rPr lang="en-US" altLang="zh-TW" dirty="0"/>
              <a:t>1T</a:t>
            </a:r>
          </a:p>
          <a:p>
            <a:r>
              <a:rPr lang="zh-TW" altLang="en-US" dirty="0"/>
              <a:t>樣本內</a:t>
            </a:r>
            <a:r>
              <a:rPr lang="en-US" altLang="zh-TW" dirty="0"/>
              <a:t>:2020/03/22</a:t>
            </a:r>
            <a:r>
              <a:rPr lang="zh-TW" altLang="en-US" dirty="0"/>
              <a:t> </a:t>
            </a:r>
            <a:r>
              <a:rPr lang="en-US" altLang="zh-TW" dirty="0"/>
              <a:t>–</a:t>
            </a:r>
            <a:r>
              <a:rPr lang="zh-TW" altLang="en-US" dirty="0"/>
              <a:t> </a:t>
            </a:r>
            <a:r>
              <a:rPr lang="en-US" altLang="zh-TW" dirty="0"/>
              <a:t>2022/12/31</a:t>
            </a:r>
          </a:p>
          <a:p>
            <a:r>
              <a:rPr lang="zh-TW" altLang="en-US" dirty="0"/>
              <a:t>樣本外</a:t>
            </a:r>
            <a:r>
              <a:rPr lang="en-US" altLang="zh-TW" dirty="0"/>
              <a:t>:2023/01/01</a:t>
            </a:r>
            <a:r>
              <a:rPr lang="zh-TW" altLang="en-US" dirty="0"/>
              <a:t> </a:t>
            </a:r>
            <a:r>
              <a:rPr lang="en-US" altLang="zh-TW" dirty="0"/>
              <a:t>–</a:t>
            </a:r>
            <a:r>
              <a:rPr lang="zh-TW" altLang="en-US" dirty="0"/>
              <a:t> </a:t>
            </a:r>
            <a:r>
              <a:rPr lang="en-US" altLang="zh-TW" dirty="0"/>
              <a:t>2024/04/15</a:t>
            </a:r>
          </a:p>
          <a:p>
            <a:r>
              <a:rPr lang="zh-TW" altLang="en-US" dirty="0"/>
              <a:t>手續費</a:t>
            </a:r>
            <a:r>
              <a:rPr lang="en-US" altLang="zh-TW" dirty="0"/>
              <a:t>:0.00025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2620737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060695D-3BA2-4A11-AF57-92A843FACE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使用指標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0003AEE-4AEC-4A30-AC73-1BCFE6CB2C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329909" cy="4442010"/>
          </a:xfrm>
        </p:spPr>
        <p:txBody>
          <a:bodyPr>
            <a:normAutofit/>
          </a:bodyPr>
          <a:lstStyle/>
          <a:p>
            <a:r>
              <a:rPr lang="zh-TW" altLang="en-US" dirty="0"/>
              <a:t>大戶買進</a:t>
            </a:r>
            <a:endParaRPr lang="en-US" altLang="zh-TW" dirty="0"/>
          </a:p>
          <a:p>
            <a:r>
              <a:rPr lang="zh-TW" altLang="en-US" dirty="0"/>
              <a:t>散戶買進</a:t>
            </a:r>
            <a:endParaRPr lang="en-US" altLang="zh-TW" dirty="0"/>
          </a:p>
          <a:p>
            <a:r>
              <a:rPr lang="zh-TW" altLang="en-US" dirty="0"/>
              <a:t>大戶掛單</a:t>
            </a:r>
            <a:endParaRPr lang="en-US" altLang="zh-TW" dirty="0"/>
          </a:p>
          <a:p>
            <a:r>
              <a:rPr lang="zh-TW" altLang="en-US" dirty="0"/>
              <a:t>散戶掛單</a:t>
            </a:r>
            <a:endParaRPr lang="en-US" altLang="zh-TW" dirty="0"/>
          </a:p>
          <a:p>
            <a:r>
              <a:rPr lang="en-US" altLang="zh-TW" dirty="0"/>
              <a:t>MACD</a:t>
            </a:r>
            <a:endParaRPr lang="zh-TW" altLang="en-US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62B0D633-BEB2-4D89-A9A4-7C3E1312F3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75795" y="2290440"/>
            <a:ext cx="7478005" cy="3844030"/>
          </a:xfrm>
          <a:prstGeom prst="rect">
            <a:avLst/>
          </a:prstGeom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31C6CBF8-60D6-42F1-A93C-8FEE51DD29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0372" y="721077"/>
            <a:ext cx="5735345" cy="1336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28540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AA385C7-EEAA-4C15-8257-D5355F92DF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多單策略</a:t>
            </a:r>
            <a:r>
              <a:rPr lang="en-US" altLang="zh-TW" dirty="0"/>
              <a:t>-1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D4E4DB6-504D-43B1-8DA0-E203B8BD26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TW" altLang="en-US" sz="2400" dirty="0"/>
              <a:t>日盤</a:t>
            </a:r>
            <a:r>
              <a:rPr lang="en-US" altLang="zh-TW" sz="2400" dirty="0"/>
              <a:t>9.15-13.15</a:t>
            </a:r>
          </a:p>
          <a:p>
            <a:r>
              <a:rPr lang="zh-TW" altLang="en-US" sz="2400" dirty="0"/>
              <a:t>夜盤</a:t>
            </a:r>
            <a:r>
              <a:rPr lang="en-US" altLang="zh-TW" sz="2400" dirty="0"/>
              <a:t>15.30-4.30</a:t>
            </a:r>
          </a:p>
          <a:p>
            <a:r>
              <a:rPr lang="zh-TW" altLang="en-US" sz="2400" dirty="0"/>
              <a:t>日夜盤相同策略</a:t>
            </a:r>
            <a:endParaRPr lang="en-US" altLang="zh-TW" sz="2400" dirty="0"/>
          </a:p>
          <a:p>
            <a:r>
              <a:rPr lang="zh-TW" altLang="en-US" sz="2400" dirty="0"/>
              <a:t>進場</a:t>
            </a:r>
            <a:endParaRPr lang="en-US" altLang="zh-TW" sz="2400" dirty="0"/>
          </a:p>
          <a:p>
            <a:pPr lvl="1"/>
            <a:r>
              <a:rPr lang="zh-TW" altLang="en-US" sz="2000" dirty="0">
                <a:solidFill>
                  <a:srgbClr val="FF0000"/>
                </a:solidFill>
              </a:rPr>
              <a:t>大戶買進</a:t>
            </a:r>
            <a:r>
              <a:rPr lang="en-US" altLang="zh-TW" sz="2000" dirty="0">
                <a:solidFill>
                  <a:srgbClr val="FF0000"/>
                </a:solidFill>
              </a:rPr>
              <a:t>[-1]</a:t>
            </a:r>
            <a:r>
              <a:rPr lang="zh-TW" altLang="en-US" sz="2000" dirty="0">
                <a:solidFill>
                  <a:srgbClr val="FF0000"/>
                </a:solidFill>
              </a:rPr>
              <a:t> </a:t>
            </a:r>
            <a:r>
              <a:rPr lang="en-US" altLang="zh-TW" sz="2000" dirty="0">
                <a:solidFill>
                  <a:srgbClr val="FF0000"/>
                </a:solidFill>
              </a:rPr>
              <a:t>&gt;</a:t>
            </a:r>
            <a:r>
              <a:rPr lang="zh-TW" altLang="en-US" sz="2000" dirty="0">
                <a:solidFill>
                  <a:srgbClr val="FF0000"/>
                </a:solidFill>
              </a:rPr>
              <a:t> 散戶買進</a:t>
            </a:r>
            <a:r>
              <a:rPr lang="en-US" altLang="zh-TW" sz="2000" dirty="0">
                <a:solidFill>
                  <a:srgbClr val="FF0000"/>
                </a:solidFill>
              </a:rPr>
              <a:t>[-1]</a:t>
            </a:r>
          </a:p>
          <a:p>
            <a:pPr lvl="1"/>
            <a:r>
              <a:rPr lang="zh-TW" altLang="en-US" sz="2000" dirty="0">
                <a:solidFill>
                  <a:srgbClr val="FF0000"/>
                </a:solidFill>
              </a:rPr>
              <a:t>大戶買進</a:t>
            </a:r>
            <a:r>
              <a:rPr lang="en-US" altLang="zh-TW" sz="2000" dirty="0">
                <a:solidFill>
                  <a:srgbClr val="FF0000"/>
                </a:solidFill>
              </a:rPr>
              <a:t>[-2]</a:t>
            </a:r>
            <a:r>
              <a:rPr lang="zh-TW" altLang="en-US" sz="2000" dirty="0">
                <a:solidFill>
                  <a:srgbClr val="FF0000"/>
                </a:solidFill>
              </a:rPr>
              <a:t> </a:t>
            </a:r>
            <a:r>
              <a:rPr lang="en-US" altLang="zh-TW" sz="2000" dirty="0">
                <a:solidFill>
                  <a:srgbClr val="FF0000"/>
                </a:solidFill>
              </a:rPr>
              <a:t>&lt;</a:t>
            </a:r>
            <a:r>
              <a:rPr lang="zh-TW" altLang="en-US" sz="2000" dirty="0">
                <a:solidFill>
                  <a:srgbClr val="FF0000"/>
                </a:solidFill>
              </a:rPr>
              <a:t> 散戶買進</a:t>
            </a:r>
            <a:r>
              <a:rPr lang="en-US" altLang="zh-TW" sz="2000" dirty="0">
                <a:solidFill>
                  <a:srgbClr val="FF0000"/>
                </a:solidFill>
              </a:rPr>
              <a:t>[-2]</a:t>
            </a:r>
          </a:p>
          <a:p>
            <a:r>
              <a:rPr lang="zh-TW" altLang="en-US" sz="2400" dirty="0"/>
              <a:t>出場</a:t>
            </a:r>
            <a:endParaRPr lang="en-US" altLang="zh-TW" sz="2400" dirty="0"/>
          </a:p>
          <a:p>
            <a:pPr lvl="1"/>
            <a:r>
              <a:rPr lang="zh-TW" altLang="en-US" sz="2000" dirty="0">
                <a:solidFill>
                  <a:srgbClr val="FF0000"/>
                </a:solidFill>
              </a:rPr>
              <a:t>大戶買進</a:t>
            </a:r>
            <a:r>
              <a:rPr lang="en-US" altLang="zh-TW" sz="2000" dirty="0">
                <a:solidFill>
                  <a:srgbClr val="FF0000"/>
                </a:solidFill>
              </a:rPr>
              <a:t>[-1]</a:t>
            </a:r>
            <a:r>
              <a:rPr lang="zh-TW" altLang="en-US" sz="2000" dirty="0">
                <a:solidFill>
                  <a:srgbClr val="FF0000"/>
                </a:solidFill>
              </a:rPr>
              <a:t> </a:t>
            </a:r>
            <a:r>
              <a:rPr lang="en-US" altLang="zh-TW" sz="2000" dirty="0">
                <a:solidFill>
                  <a:srgbClr val="FF0000"/>
                </a:solidFill>
              </a:rPr>
              <a:t>&lt;</a:t>
            </a:r>
            <a:r>
              <a:rPr lang="zh-TW" altLang="en-US" sz="2000" dirty="0">
                <a:solidFill>
                  <a:srgbClr val="FF0000"/>
                </a:solidFill>
              </a:rPr>
              <a:t> 散戶買進</a:t>
            </a:r>
            <a:r>
              <a:rPr lang="en-US" altLang="zh-TW" sz="2000" dirty="0">
                <a:solidFill>
                  <a:srgbClr val="FF0000"/>
                </a:solidFill>
              </a:rPr>
              <a:t>[-1]</a:t>
            </a:r>
          </a:p>
          <a:p>
            <a:pPr lvl="1"/>
            <a:r>
              <a:rPr lang="zh-TW" altLang="en-US" sz="2000" dirty="0">
                <a:solidFill>
                  <a:srgbClr val="FF0000"/>
                </a:solidFill>
              </a:rPr>
              <a:t>大戶買進</a:t>
            </a:r>
            <a:r>
              <a:rPr lang="en-US" altLang="zh-TW" sz="2000" dirty="0">
                <a:solidFill>
                  <a:srgbClr val="FF0000"/>
                </a:solidFill>
              </a:rPr>
              <a:t>[-2]</a:t>
            </a:r>
            <a:r>
              <a:rPr lang="zh-TW" altLang="en-US" sz="2000" dirty="0">
                <a:solidFill>
                  <a:srgbClr val="FF0000"/>
                </a:solidFill>
              </a:rPr>
              <a:t> </a:t>
            </a:r>
            <a:r>
              <a:rPr lang="en-US" altLang="zh-TW" sz="2000" dirty="0">
                <a:solidFill>
                  <a:srgbClr val="FF0000"/>
                </a:solidFill>
              </a:rPr>
              <a:t>&gt;</a:t>
            </a:r>
            <a:r>
              <a:rPr lang="zh-TW" altLang="en-US" sz="2000" dirty="0">
                <a:solidFill>
                  <a:srgbClr val="FF0000"/>
                </a:solidFill>
              </a:rPr>
              <a:t> 散戶買進</a:t>
            </a:r>
            <a:r>
              <a:rPr lang="en-US" altLang="zh-TW" sz="2000" dirty="0">
                <a:solidFill>
                  <a:srgbClr val="FF0000"/>
                </a:solidFill>
              </a:rPr>
              <a:t>[-2]</a:t>
            </a:r>
          </a:p>
          <a:p>
            <a:pPr lvl="1"/>
            <a:r>
              <a:rPr lang="zh-TW" altLang="en-US" sz="2000" dirty="0"/>
              <a:t>日盤超過</a:t>
            </a:r>
            <a:r>
              <a:rPr lang="en-US" altLang="zh-TW" sz="2000" dirty="0"/>
              <a:t>13.15</a:t>
            </a:r>
            <a:r>
              <a:rPr lang="zh-TW" altLang="en-US" sz="2000" dirty="0"/>
              <a:t>平倉</a:t>
            </a:r>
            <a:endParaRPr lang="en-US" altLang="zh-TW" sz="2000" dirty="0"/>
          </a:p>
          <a:p>
            <a:pPr lvl="1"/>
            <a:r>
              <a:rPr lang="zh-TW" altLang="en-US" sz="2000" dirty="0"/>
              <a:t>夜盤超過</a:t>
            </a:r>
            <a:r>
              <a:rPr lang="en-US" altLang="zh-TW" sz="2000" dirty="0"/>
              <a:t>4.30</a:t>
            </a:r>
            <a:r>
              <a:rPr lang="zh-TW" altLang="en-US" sz="2000" dirty="0"/>
              <a:t>平倉</a:t>
            </a:r>
            <a:endParaRPr lang="en-US" altLang="zh-TW" sz="2000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36A77FC2-9EBB-4D3B-9098-810908B902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59751" y="406254"/>
            <a:ext cx="4195807" cy="6086621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BC32BE20-6E57-4EE7-B98C-56D2DE2876AB}"/>
              </a:ext>
            </a:extLst>
          </p:cNvPr>
          <p:cNvSpPr/>
          <p:nvPr/>
        </p:nvSpPr>
        <p:spPr>
          <a:xfrm>
            <a:off x="6374167" y="1690688"/>
            <a:ext cx="4385569" cy="24464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697C15B-E883-466C-84BA-6F0D900CC184}"/>
              </a:ext>
            </a:extLst>
          </p:cNvPr>
          <p:cNvSpPr/>
          <p:nvPr/>
        </p:nvSpPr>
        <p:spPr>
          <a:xfrm>
            <a:off x="6364869" y="3197522"/>
            <a:ext cx="4385569" cy="24464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5FECF405-6A98-480B-A47B-1FCCE746EED6}"/>
              </a:ext>
            </a:extLst>
          </p:cNvPr>
          <p:cNvSpPr/>
          <p:nvPr/>
        </p:nvSpPr>
        <p:spPr>
          <a:xfrm>
            <a:off x="6374167" y="5580587"/>
            <a:ext cx="4385569" cy="24464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A52E7F9-73C3-4194-BAFA-DE7A5D80134C}"/>
              </a:ext>
            </a:extLst>
          </p:cNvPr>
          <p:cNvSpPr/>
          <p:nvPr/>
        </p:nvSpPr>
        <p:spPr>
          <a:xfrm>
            <a:off x="6374167" y="5996513"/>
            <a:ext cx="4385569" cy="24464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736977EA-F077-40AE-8B4C-0EBDF330F048}"/>
              </a:ext>
            </a:extLst>
          </p:cNvPr>
          <p:cNvSpPr/>
          <p:nvPr/>
        </p:nvSpPr>
        <p:spPr>
          <a:xfrm>
            <a:off x="6364869" y="4266732"/>
            <a:ext cx="4385569" cy="24464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974221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內容版面配置區 5">
            <a:extLst>
              <a:ext uri="{FF2B5EF4-FFF2-40B4-BE49-F238E27FC236}">
                <a16:creationId xmlns:a16="http://schemas.microsoft.com/office/drawing/2014/main" id="{55A54923-BB54-439A-8554-74A423C032C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2946" y="1019660"/>
            <a:ext cx="9466107" cy="4818680"/>
          </a:xfrm>
        </p:spPr>
      </p:pic>
    </p:spTree>
    <p:extLst>
      <p:ext uri="{BB962C8B-B14F-4D97-AF65-F5344CB8AC3E}">
        <p14:creationId xmlns:p14="http://schemas.microsoft.com/office/powerpoint/2010/main" val="39249356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>
            <a:extLst>
              <a:ext uri="{FF2B5EF4-FFF2-40B4-BE49-F238E27FC236}">
                <a16:creationId xmlns:a16="http://schemas.microsoft.com/office/drawing/2014/main" id="{9EB20BE2-D1A7-47E9-8DC8-C46C9327F1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7812" y="478619"/>
            <a:ext cx="4014097" cy="5861445"/>
          </a:xfrm>
          <a:prstGeom prst="rect">
            <a:avLst/>
          </a:prstGeom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AAA385C7-EEAA-4C15-8257-D5355F92DF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多單策略</a:t>
            </a:r>
            <a:r>
              <a:rPr lang="en-US" altLang="zh-TW" dirty="0"/>
              <a:t>-2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D4E4DB6-504D-43B1-8DA0-E203B8BD26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7622219" cy="4530787"/>
          </a:xfrm>
        </p:spPr>
        <p:txBody>
          <a:bodyPr>
            <a:normAutofit lnSpcReduction="10000"/>
          </a:bodyPr>
          <a:lstStyle/>
          <a:p>
            <a:r>
              <a:rPr lang="zh-TW" altLang="en-US" sz="2000" dirty="0"/>
              <a:t>日盤</a:t>
            </a:r>
            <a:r>
              <a:rPr lang="en-US" altLang="zh-TW" sz="2000" dirty="0"/>
              <a:t>9.15-13.15</a:t>
            </a:r>
          </a:p>
          <a:p>
            <a:r>
              <a:rPr lang="zh-TW" altLang="en-US" sz="2000" dirty="0"/>
              <a:t>夜盤</a:t>
            </a:r>
            <a:r>
              <a:rPr lang="en-US" altLang="zh-TW" sz="2000" dirty="0"/>
              <a:t>15.30-4.30</a:t>
            </a:r>
          </a:p>
          <a:p>
            <a:r>
              <a:rPr lang="zh-TW" altLang="en-US" sz="2000" dirty="0"/>
              <a:t>日夜盤相同策略</a:t>
            </a:r>
            <a:endParaRPr lang="en-US" altLang="zh-TW" sz="2000" dirty="0"/>
          </a:p>
          <a:p>
            <a:r>
              <a:rPr lang="zh-TW" altLang="en-US" sz="2000" dirty="0"/>
              <a:t>進場</a:t>
            </a:r>
            <a:endParaRPr lang="en-US" altLang="zh-TW" sz="2000" dirty="0"/>
          </a:p>
          <a:p>
            <a:pPr lvl="1"/>
            <a:r>
              <a:rPr lang="en-US" altLang="zh-TW" sz="1800" dirty="0">
                <a:solidFill>
                  <a:srgbClr val="FF0000"/>
                </a:solidFill>
              </a:rPr>
              <a:t>MACD</a:t>
            </a:r>
            <a:r>
              <a:rPr lang="zh-TW" altLang="en-US" sz="1800" dirty="0">
                <a:solidFill>
                  <a:srgbClr val="FF0000"/>
                </a:solidFill>
              </a:rPr>
              <a:t> 突破訊號線</a:t>
            </a:r>
            <a:endParaRPr lang="en-US" altLang="zh-TW" sz="1800" dirty="0">
              <a:solidFill>
                <a:srgbClr val="FF0000"/>
              </a:solidFill>
            </a:endParaRPr>
          </a:p>
          <a:p>
            <a:pPr lvl="1"/>
            <a:r>
              <a:rPr lang="zh-TW" altLang="en-US" sz="1800" dirty="0"/>
              <a:t>大戶買進</a:t>
            </a:r>
            <a:r>
              <a:rPr lang="en-US" altLang="zh-TW" sz="1800" dirty="0"/>
              <a:t>[-1]</a:t>
            </a:r>
            <a:r>
              <a:rPr lang="zh-TW" altLang="en-US" sz="1800" dirty="0"/>
              <a:t> </a:t>
            </a:r>
            <a:r>
              <a:rPr lang="en-US" altLang="zh-TW" sz="1800" dirty="0"/>
              <a:t>&gt;</a:t>
            </a:r>
            <a:r>
              <a:rPr lang="zh-TW" altLang="en-US" sz="1800" dirty="0"/>
              <a:t> 散戶買進</a:t>
            </a:r>
            <a:r>
              <a:rPr lang="en-US" altLang="zh-TW" sz="1800" dirty="0"/>
              <a:t>[-1] and </a:t>
            </a:r>
            <a:r>
              <a:rPr lang="zh-TW" altLang="en-US" sz="1800" dirty="0"/>
              <a:t>大戶買進</a:t>
            </a:r>
            <a:r>
              <a:rPr lang="en-US" altLang="zh-TW" sz="1800" dirty="0"/>
              <a:t>[-2]</a:t>
            </a:r>
            <a:r>
              <a:rPr lang="zh-TW" altLang="en-US" sz="1800" dirty="0"/>
              <a:t> </a:t>
            </a:r>
            <a:r>
              <a:rPr lang="en-US" altLang="zh-TW" sz="1800" dirty="0"/>
              <a:t>&lt;</a:t>
            </a:r>
            <a:r>
              <a:rPr lang="zh-TW" altLang="en-US" sz="1800" dirty="0"/>
              <a:t> 散戶買進</a:t>
            </a:r>
            <a:r>
              <a:rPr lang="en-US" altLang="zh-TW" sz="1800" dirty="0"/>
              <a:t>[-2]</a:t>
            </a:r>
          </a:p>
          <a:p>
            <a:pPr lvl="1"/>
            <a:r>
              <a:rPr lang="zh-TW" altLang="en-US" sz="1800" dirty="0">
                <a:solidFill>
                  <a:srgbClr val="FF0000"/>
                </a:solidFill>
              </a:rPr>
              <a:t>大戶掛單</a:t>
            </a:r>
            <a:r>
              <a:rPr lang="en-US" altLang="zh-TW" sz="1800" dirty="0">
                <a:solidFill>
                  <a:srgbClr val="FF0000"/>
                </a:solidFill>
              </a:rPr>
              <a:t>[-1]</a:t>
            </a:r>
            <a:r>
              <a:rPr lang="zh-TW" altLang="en-US" sz="1800" dirty="0">
                <a:solidFill>
                  <a:srgbClr val="FF0000"/>
                </a:solidFill>
              </a:rPr>
              <a:t> </a:t>
            </a:r>
            <a:r>
              <a:rPr lang="en-US" altLang="zh-TW" sz="1800" dirty="0">
                <a:solidFill>
                  <a:srgbClr val="FF0000"/>
                </a:solidFill>
              </a:rPr>
              <a:t>&gt;</a:t>
            </a:r>
            <a:r>
              <a:rPr lang="zh-TW" altLang="en-US" sz="1800" dirty="0">
                <a:solidFill>
                  <a:srgbClr val="FF0000"/>
                </a:solidFill>
              </a:rPr>
              <a:t> 散戶掛單</a:t>
            </a:r>
            <a:r>
              <a:rPr lang="en-US" altLang="zh-TW" sz="1800" dirty="0">
                <a:solidFill>
                  <a:srgbClr val="FF0000"/>
                </a:solidFill>
              </a:rPr>
              <a:t>[-1] and </a:t>
            </a:r>
            <a:r>
              <a:rPr lang="zh-TW" altLang="en-US" sz="1800" dirty="0">
                <a:solidFill>
                  <a:srgbClr val="FF0000"/>
                </a:solidFill>
              </a:rPr>
              <a:t>大戶掛單</a:t>
            </a:r>
            <a:r>
              <a:rPr lang="en-US" altLang="zh-TW" sz="1800" dirty="0">
                <a:solidFill>
                  <a:srgbClr val="FF0000"/>
                </a:solidFill>
              </a:rPr>
              <a:t>[-2]</a:t>
            </a:r>
            <a:r>
              <a:rPr lang="zh-TW" altLang="en-US" sz="1800" dirty="0">
                <a:solidFill>
                  <a:srgbClr val="FF0000"/>
                </a:solidFill>
              </a:rPr>
              <a:t> </a:t>
            </a:r>
            <a:r>
              <a:rPr lang="en-US" altLang="zh-TW" sz="1800" dirty="0">
                <a:solidFill>
                  <a:srgbClr val="FF0000"/>
                </a:solidFill>
              </a:rPr>
              <a:t>&lt;</a:t>
            </a:r>
            <a:r>
              <a:rPr lang="zh-TW" altLang="en-US" sz="1800" dirty="0">
                <a:solidFill>
                  <a:srgbClr val="FF0000"/>
                </a:solidFill>
              </a:rPr>
              <a:t> 散戶掛單</a:t>
            </a:r>
            <a:r>
              <a:rPr lang="en-US" altLang="zh-TW" sz="1800" dirty="0">
                <a:solidFill>
                  <a:srgbClr val="FF0000"/>
                </a:solidFill>
              </a:rPr>
              <a:t>[-2]</a:t>
            </a:r>
          </a:p>
          <a:p>
            <a:r>
              <a:rPr lang="zh-TW" altLang="en-US" sz="2000" dirty="0"/>
              <a:t>出場</a:t>
            </a:r>
            <a:endParaRPr lang="en-US" altLang="zh-TW" sz="2000" dirty="0"/>
          </a:p>
          <a:p>
            <a:pPr lvl="1"/>
            <a:r>
              <a:rPr lang="en-US" altLang="zh-TW" sz="1800" dirty="0">
                <a:solidFill>
                  <a:srgbClr val="FF0000"/>
                </a:solidFill>
              </a:rPr>
              <a:t>MACD</a:t>
            </a:r>
            <a:r>
              <a:rPr lang="zh-TW" altLang="en-US" sz="1800" dirty="0">
                <a:solidFill>
                  <a:srgbClr val="FF0000"/>
                </a:solidFill>
              </a:rPr>
              <a:t> 跌破訊號線</a:t>
            </a:r>
            <a:endParaRPr lang="en-US" altLang="zh-TW" sz="1800" dirty="0">
              <a:solidFill>
                <a:srgbClr val="FF0000"/>
              </a:solidFill>
            </a:endParaRPr>
          </a:p>
          <a:p>
            <a:pPr lvl="1"/>
            <a:r>
              <a:rPr lang="zh-TW" altLang="en-US" sz="1800" dirty="0"/>
              <a:t>大戶買進</a:t>
            </a:r>
            <a:r>
              <a:rPr lang="en-US" altLang="zh-TW" sz="1800" dirty="0"/>
              <a:t>[-1]</a:t>
            </a:r>
            <a:r>
              <a:rPr lang="zh-TW" altLang="en-US" sz="1800" dirty="0"/>
              <a:t> </a:t>
            </a:r>
            <a:r>
              <a:rPr lang="en-US" altLang="zh-TW" sz="1800" dirty="0"/>
              <a:t>&lt;</a:t>
            </a:r>
            <a:r>
              <a:rPr lang="zh-TW" altLang="en-US" sz="1800" dirty="0"/>
              <a:t> 散戶買進</a:t>
            </a:r>
            <a:r>
              <a:rPr lang="en-US" altLang="zh-TW" sz="1800" dirty="0"/>
              <a:t>[-1] and </a:t>
            </a:r>
            <a:r>
              <a:rPr lang="zh-TW" altLang="en-US" sz="1800" dirty="0"/>
              <a:t>大戶買進</a:t>
            </a:r>
            <a:r>
              <a:rPr lang="en-US" altLang="zh-TW" sz="1800" dirty="0"/>
              <a:t>[-2]</a:t>
            </a:r>
            <a:r>
              <a:rPr lang="zh-TW" altLang="en-US" sz="1800" dirty="0"/>
              <a:t> </a:t>
            </a:r>
            <a:r>
              <a:rPr lang="en-US" altLang="zh-TW" sz="1800" dirty="0"/>
              <a:t>&gt;</a:t>
            </a:r>
            <a:r>
              <a:rPr lang="zh-TW" altLang="en-US" sz="1800" dirty="0"/>
              <a:t> 散戶買進</a:t>
            </a:r>
            <a:r>
              <a:rPr lang="en-US" altLang="zh-TW" sz="1800" dirty="0"/>
              <a:t>[-2]</a:t>
            </a:r>
          </a:p>
          <a:p>
            <a:pPr lvl="1"/>
            <a:r>
              <a:rPr lang="zh-TW" altLang="en-US" sz="1800" dirty="0">
                <a:solidFill>
                  <a:srgbClr val="FF0000"/>
                </a:solidFill>
              </a:rPr>
              <a:t>大戶掛單</a:t>
            </a:r>
            <a:r>
              <a:rPr lang="en-US" altLang="zh-TW" sz="1800" dirty="0">
                <a:solidFill>
                  <a:srgbClr val="FF0000"/>
                </a:solidFill>
              </a:rPr>
              <a:t>[-1]</a:t>
            </a:r>
            <a:r>
              <a:rPr lang="zh-TW" altLang="en-US" sz="1800" dirty="0">
                <a:solidFill>
                  <a:srgbClr val="FF0000"/>
                </a:solidFill>
              </a:rPr>
              <a:t> </a:t>
            </a:r>
            <a:r>
              <a:rPr lang="en-US" altLang="zh-TW" sz="1800" dirty="0">
                <a:solidFill>
                  <a:srgbClr val="FF0000"/>
                </a:solidFill>
              </a:rPr>
              <a:t>&lt;</a:t>
            </a:r>
            <a:r>
              <a:rPr lang="zh-TW" altLang="en-US" sz="1800" dirty="0">
                <a:solidFill>
                  <a:srgbClr val="FF0000"/>
                </a:solidFill>
              </a:rPr>
              <a:t> 散戶掛單</a:t>
            </a:r>
            <a:r>
              <a:rPr lang="en-US" altLang="zh-TW" sz="1800" dirty="0">
                <a:solidFill>
                  <a:srgbClr val="FF0000"/>
                </a:solidFill>
              </a:rPr>
              <a:t>[-1] and </a:t>
            </a:r>
            <a:r>
              <a:rPr lang="zh-TW" altLang="en-US" sz="1800" dirty="0">
                <a:solidFill>
                  <a:srgbClr val="FF0000"/>
                </a:solidFill>
              </a:rPr>
              <a:t>大戶掛單</a:t>
            </a:r>
            <a:r>
              <a:rPr lang="en-US" altLang="zh-TW" sz="1800" dirty="0">
                <a:solidFill>
                  <a:srgbClr val="FF0000"/>
                </a:solidFill>
              </a:rPr>
              <a:t>[-2]</a:t>
            </a:r>
            <a:r>
              <a:rPr lang="zh-TW" altLang="en-US" sz="1800" dirty="0">
                <a:solidFill>
                  <a:srgbClr val="FF0000"/>
                </a:solidFill>
              </a:rPr>
              <a:t> </a:t>
            </a:r>
            <a:r>
              <a:rPr lang="en-US" altLang="zh-TW" sz="1800" dirty="0">
                <a:solidFill>
                  <a:srgbClr val="FF0000"/>
                </a:solidFill>
              </a:rPr>
              <a:t>&gt;</a:t>
            </a:r>
            <a:r>
              <a:rPr lang="zh-TW" altLang="en-US" sz="1800" dirty="0">
                <a:solidFill>
                  <a:srgbClr val="FF0000"/>
                </a:solidFill>
              </a:rPr>
              <a:t> 散戶掛單</a:t>
            </a:r>
            <a:r>
              <a:rPr lang="en-US" altLang="zh-TW" sz="1800" dirty="0">
                <a:solidFill>
                  <a:srgbClr val="FF0000"/>
                </a:solidFill>
              </a:rPr>
              <a:t>[-2]</a:t>
            </a:r>
          </a:p>
          <a:p>
            <a:pPr lvl="1"/>
            <a:r>
              <a:rPr lang="zh-TW" altLang="en-US" sz="1800" dirty="0"/>
              <a:t>日盤超過</a:t>
            </a:r>
            <a:r>
              <a:rPr lang="en-US" altLang="zh-TW" sz="1800" dirty="0"/>
              <a:t>13.15</a:t>
            </a:r>
            <a:r>
              <a:rPr lang="zh-TW" altLang="en-US" sz="1800" dirty="0"/>
              <a:t>平倉</a:t>
            </a:r>
            <a:endParaRPr lang="en-US" altLang="zh-TW" sz="1800" dirty="0"/>
          </a:p>
          <a:p>
            <a:pPr lvl="1"/>
            <a:r>
              <a:rPr lang="zh-TW" altLang="en-US" sz="1800" dirty="0"/>
              <a:t>夜盤超過</a:t>
            </a:r>
            <a:r>
              <a:rPr lang="en-US" altLang="zh-TW" sz="1800" dirty="0"/>
              <a:t>4.30</a:t>
            </a:r>
            <a:r>
              <a:rPr lang="zh-TW" altLang="en-US" sz="1800" dirty="0"/>
              <a:t>平倉</a:t>
            </a:r>
            <a:endParaRPr lang="en-US" altLang="zh-TW" sz="1800" dirty="0"/>
          </a:p>
          <a:p>
            <a:pPr lvl="1"/>
            <a:r>
              <a:rPr lang="zh-TW" altLang="en-US" sz="1800" dirty="0">
                <a:solidFill>
                  <a:srgbClr val="C00000"/>
                </a:solidFill>
              </a:rPr>
              <a:t>停損 </a:t>
            </a:r>
            <a:r>
              <a:rPr lang="en-US" altLang="zh-TW" sz="1800" dirty="0">
                <a:solidFill>
                  <a:srgbClr val="C00000"/>
                </a:solidFill>
              </a:rPr>
              <a:t>0.5%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C5D0D67-C3D8-4555-8BFA-AC7474EA17C5}"/>
              </a:ext>
            </a:extLst>
          </p:cNvPr>
          <p:cNvSpPr/>
          <p:nvPr/>
        </p:nvSpPr>
        <p:spPr>
          <a:xfrm>
            <a:off x="7575242" y="1765045"/>
            <a:ext cx="4134405" cy="17808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74D5A569-94DE-4EAC-A32C-FD7D0B009B62}"/>
              </a:ext>
            </a:extLst>
          </p:cNvPr>
          <p:cNvSpPr/>
          <p:nvPr/>
        </p:nvSpPr>
        <p:spPr>
          <a:xfrm>
            <a:off x="7590408" y="3164698"/>
            <a:ext cx="4119239" cy="24464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564A2F7-768D-49CD-89BC-A739C41F916F}"/>
              </a:ext>
            </a:extLst>
          </p:cNvPr>
          <p:cNvSpPr/>
          <p:nvPr/>
        </p:nvSpPr>
        <p:spPr>
          <a:xfrm>
            <a:off x="7590408" y="4176801"/>
            <a:ext cx="4119239" cy="26561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843FFF53-EFAF-4E80-83EC-3A995E3189ED}"/>
              </a:ext>
            </a:extLst>
          </p:cNvPr>
          <p:cNvSpPr/>
          <p:nvPr/>
        </p:nvSpPr>
        <p:spPr>
          <a:xfrm>
            <a:off x="7575242" y="5450849"/>
            <a:ext cx="4119239" cy="24464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7932C090-48D9-477D-A459-ADA01F9677B1}"/>
              </a:ext>
            </a:extLst>
          </p:cNvPr>
          <p:cNvSpPr/>
          <p:nvPr/>
        </p:nvSpPr>
        <p:spPr>
          <a:xfrm>
            <a:off x="7590408" y="5895456"/>
            <a:ext cx="4119239" cy="24464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556558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9497B89B-59D1-41BD-89C5-9B4C3686063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6047" y="1036509"/>
            <a:ext cx="9399906" cy="4784981"/>
          </a:xfrm>
        </p:spPr>
      </p:pic>
    </p:spTree>
    <p:extLst>
      <p:ext uri="{BB962C8B-B14F-4D97-AF65-F5344CB8AC3E}">
        <p14:creationId xmlns:p14="http://schemas.microsoft.com/office/powerpoint/2010/main" val="1064069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>
            <a:extLst>
              <a:ext uri="{FF2B5EF4-FFF2-40B4-BE49-F238E27FC236}">
                <a16:creationId xmlns:a16="http://schemas.microsoft.com/office/drawing/2014/main" id="{41509B10-2299-4157-B1AB-F17ACF12CB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8486" y="470793"/>
            <a:ext cx="4027916" cy="5885618"/>
          </a:xfrm>
          <a:prstGeom prst="rect">
            <a:avLst/>
          </a:prstGeom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AAA385C7-EEAA-4C15-8257-D5355F92DF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空單策略</a:t>
            </a:r>
            <a:r>
              <a:rPr lang="en-US" altLang="zh-TW" dirty="0"/>
              <a:t>-1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D4E4DB6-504D-43B1-8DA0-E203B8BD26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7622219" cy="4530787"/>
          </a:xfrm>
        </p:spPr>
        <p:txBody>
          <a:bodyPr>
            <a:normAutofit/>
          </a:bodyPr>
          <a:lstStyle/>
          <a:p>
            <a:r>
              <a:rPr lang="zh-TW" altLang="en-US" sz="2000" dirty="0"/>
              <a:t>日盤</a:t>
            </a:r>
            <a:r>
              <a:rPr lang="en-US" altLang="zh-TW" sz="2000" dirty="0"/>
              <a:t>9.15-13.15</a:t>
            </a:r>
          </a:p>
          <a:p>
            <a:r>
              <a:rPr lang="zh-TW" altLang="en-US" sz="2000" dirty="0"/>
              <a:t>夜盤</a:t>
            </a:r>
            <a:r>
              <a:rPr lang="en-US" altLang="zh-TW" sz="2000" dirty="0"/>
              <a:t>15.30-4.30</a:t>
            </a:r>
          </a:p>
          <a:p>
            <a:r>
              <a:rPr lang="zh-TW" altLang="en-US" sz="2000" dirty="0"/>
              <a:t>日夜盤相同策略</a:t>
            </a:r>
            <a:endParaRPr lang="en-US" altLang="zh-TW" sz="2000" dirty="0"/>
          </a:p>
          <a:p>
            <a:r>
              <a:rPr lang="zh-TW" altLang="en-US" sz="2000" dirty="0"/>
              <a:t>進場</a:t>
            </a:r>
            <a:endParaRPr lang="en-US" altLang="zh-TW" sz="2000" dirty="0"/>
          </a:p>
          <a:p>
            <a:pPr lvl="1"/>
            <a:r>
              <a:rPr lang="en-US" altLang="zh-TW" sz="1800" dirty="0"/>
              <a:t>MACD</a:t>
            </a:r>
            <a:r>
              <a:rPr lang="zh-TW" altLang="en-US" sz="1800" dirty="0"/>
              <a:t> </a:t>
            </a:r>
            <a:r>
              <a:rPr lang="zh-TW" altLang="en-US" sz="1800" dirty="0">
                <a:solidFill>
                  <a:srgbClr val="FF0000"/>
                </a:solidFill>
              </a:rPr>
              <a:t>跌破</a:t>
            </a:r>
            <a:r>
              <a:rPr lang="zh-TW" altLang="en-US" sz="1800" dirty="0"/>
              <a:t>訊號線</a:t>
            </a:r>
            <a:endParaRPr lang="en-US" altLang="zh-TW" sz="1800" dirty="0"/>
          </a:p>
          <a:p>
            <a:pPr lvl="1"/>
            <a:r>
              <a:rPr lang="zh-TW" altLang="en-US" sz="1800" dirty="0">
                <a:solidFill>
                  <a:srgbClr val="FF0000"/>
                </a:solidFill>
              </a:rPr>
              <a:t>大戶掛單</a:t>
            </a:r>
            <a:r>
              <a:rPr lang="en-US" altLang="zh-TW" sz="1800" dirty="0">
                <a:solidFill>
                  <a:srgbClr val="FF0000"/>
                </a:solidFill>
              </a:rPr>
              <a:t>[-1]</a:t>
            </a:r>
            <a:r>
              <a:rPr lang="zh-TW" altLang="en-US" sz="1800" dirty="0">
                <a:solidFill>
                  <a:srgbClr val="FF0000"/>
                </a:solidFill>
              </a:rPr>
              <a:t> </a:t>
            </a:r>
            <a:r>
              <a:rPr lang="en-US" altLang="zh-TW" sz="1800" dirty="0">
                <a:solidFill>
                  <a:srgbClr val="FF0000"/>
                </a:solidFill>
              </a:rPr>
              <a:t>&lt;</a:t>
            </a:r>
            <a:r>
              <a:rPr lang="zh-TW" altLang="en-US" sz="1800" dirty="0">
                <a:solidFill>
                  <a:srgbClr val="FF0000"/>
                </a:solidFill>
              </a:rPr>
              <a:t> 散戶掛單</a:t>
            </a:r>
            <a:r>
              <a:rPr lang="en-US" altLang="zh-TW" sz="1800" dirty="0">
                <a:solidFill>
                  <a:srgbClr val="FF0000"/>
                </a:solidFill>
              </a:rPr>
              <a:t>[-1] and </a:t>
            </a:r>
            <a:r>
              <a:rPr lang="zh-TW" altLang="en-US" sz="1800" dirty="0">
                <a:solidFill>
                  <a:srgbClr val="FF0000"/>
                </a:solidFill>
              </a:rPr>
              <a:t>大戶掛單</a:t>
            </a:r>
            <a:r>
              <a:rPr lang="en-US" altLang="zh-TW" sz="1800" dirty="0">
                <a:solidFill>
                  <a:srgbClr val="FF0000"/>
                </a:solidFill>
              </a:rPr>
              <a:t>[-2]</a:t>
            </a:r>
            <a:r>
              <a:rPr lang="zh-TW" altLang="en-US" sz="1800" dirty="0">
                <a:solidFill>
                  <a:srgbClr val="FF0000"/>
                </a:solidFill>
              </a:rPr>
              <a:t> </a:t>
            </a:r>
            <a:r>
              <a:rPr lang="en-US" altLang="zh-TW" sz="1800" dirty="0">
                <a:solidFill>
                  <a:srgbClr val="FF0000"/>
                </a:solidFill>
              </a:rPr>
              <a:t>&gt;</a:t>
            </a:r>
            <a:r>
              <a:rPr lang="zh-TW" altLang="en-US" sz="1800" dirty="0">
                <a:solidFill>
                  <a:srgbClr val="FF0000"/>
                </a:solidFill>
              </a:rPr>
              <a:t> 散戶掛單</a:t>
            </a:r>
            <a:r>
              <a:rPr lang="en-US" altLang="zh-TW" sz="1800" dirty="0">
                <a:solidFill>
                  <a:srgbClr val="FF0000"/>
                </a:solidFill>
              </a:rPr>
              <a:t>[-2]</a:t>
            </a:r>
          </a:p>
          <a:p>
            <a:r>
              <a:rPr lang="zh-TW" altLang="en-US" sz="2000" dirty="0"/>
              <a:t>出場</a:t>
            </a:r>
            <a:endParaRPr lang="en-US" altLang="zh-TW" sz="2000" dirty="0"/>
          </a:p>
          <a:p>
            <a:pPr lvl="1"/>
            <a:r>
              <a:rPr lang="en-US" altLang="zh-TW" sz="1800" dirty="0"/>
              <a:t>MACD</a:t>
            </a:r>
            <a:r>
              <a:rPr lang="zh-TW" altLang="en-US" sz="1800" dirty="0"/>
              <a:t> </a:t>
            </a:r>
            <a:r>
              <a:rPr lang="zh-TW" altLang="en-US" sz="1800" dirty="0">
                <a:solidFill>
                  <a:srgbClr val="FF0000"/>
                </a:solidFill>
              </a:rPr>
              <a:t>突破</a:t>
            </a:r>
            <a:r>
              <a:rPr lang="zh-TW" altLang="en-US" sz="1800" dirty="0"/>
              <a:t>訊號線</a:t>
            </a:r>
            <a:endParaRPr lang="en-US" altLang="zh-TW" sz="1800" dirty="0"/>
          </a:p>
          <a:p>
            <a:pPr lvl="1"/>
            <a:r>
              <a:rPr lang="zh-TW" altLang="en-US" sz="1800" dirty="0">
                <a:solidFill>
                  <a:srgbClr val="FF0000"/>
                </a:solidFill>
              </a:rPr>
              <a:t>大戶掛單</a:t>
            </a:r>
            <a:r>
              <a:rPr lang="en-US" altLang="zh-TW" sz="1800" dirty="0">
                <a:solidFill>
                  <a:srgbClr val="FF0000"/>
                </a:solidFill>
              </a:rPr>
              <a:t>[-1]</a:t>
            </a:r>
            <a:r>
              <a:rPr lang="zh-TW" altLang="en-US" sz="1800" dirty="0">
                <a:solidFill>
                  <a:srgbClr val="FF0000"/>
                </a:solidFill>
              </a:rPr>
              <a:t> </a:t>
            </a:r>
            <a:r>
              <a:rPr lang="en-US" altLang="zh-TW" sz="1800" dirty="0">
                <a:solidFill>
                  <a:srgbClr val="FF0000"/>
                </a:solidFill>
              </a:rPr>
              <a:t>&gt;</a:t>
            </a:r>
            <a:r>
              <a:rPr lang="zh-TW" altLang="en-US" sz="1800" dirty="0">
                <a:solidFill>
                  <a:srgbClr val="FF0000"/>
                </a:solidFill>
              </a:rPr>
              <a:t> 散戶掛單</a:t>
            </a:r>
            <a:r>
              <a:rPr lang="en-US" altLang="zh-TW" sz="1800" dirty="0">
                <a:solidFill>
                  <a:srgbClr val="FF0000"/>
                </a:solidFill>
              </a:rPr>
              <a:t>[-1] and </a:t>
            </a:r>
            <a:r>
              <a:rPr lang="zh-TW" altLang="en-US" sz="1800" dirty="0">
                <a:solidFill>
                  <a:srgbClr val="FF0000"/>
                </a:solidFill>
              </a:rPr>
              <a:t>大戶掛單</a:t>
            </a:r>
            <a:r>
              <a:rPr lang="en-US" altLang="zh-TW" sz="1800" dirty="0">
                <a:solidFill>
                  <a:srgbClr val="FF0000"/>
                </a:solidFill>
              </a:rPr>
              <a:t>[-2]</a:t>
            </a:r>
            <a:r>
              <a:rPr lang="zh-TW" altLang="en-US" sz="1800" dirty="0">
                <a:solidFill>
                  <a:srgbClr val="FF0000"/>
                </a:solidFill>
              </a:rPr>
              <a:t> </a:t>
            </a:r>
            <a:r>
              <a:rPr lang="en-US" altLang="zh-TW" sz="1800" dirty="0">
                <a:solidFill>
                  <a:srgbClr val="FF0000"/>
                </a:solidFill>
              </a:rPr>
              <a:t>&lt;</a:t>
            </a:r>
            <a:r>
              <a:rPr lang="zh-TW" altLang="en-US" sz="1800" dirty="0">
                <a:solidFill>
                  <a:srgbClr val="FF0000"/>
                </a:solidFill>
              </a:rPr>
              <a:t> 散戶掛單</a:t>
            </a:r>
            <a:r>
              <a:rPr lang="en-US" altLang="zh-TW" sz="1800" dirty="0">
                <a:solidFill>
                  <a:srgbClr val="FF0000"/>
                </a:solidFill>
              </a:rPr>
              <a:t>[-2]</a:t>
            </a:r>
          </a:p>
          <a:p>
            <a:pPr lvl="1"/>
            <a:r>
              <a:rPr lang="zh-TW" altLang="en-US" sz="1800" dirty="0"/>
              <a:t>日盤超過</a:t>
            </a:r>
            <a:r>
              <a:rPr lang="en-US" altLang="zh-TW" sz="1800" dirty="0"/>
              <a:t>13.15</a:t>
            </a:r>
            <a:r>
              <a:rPr lang="zh-TW" altLang="en-US" sz="1800" dirty="0"/>
              <a:t>平倉</a:t>
            </a:r>
            <a:endParaRPr lang="en-US" altLang="zh-TW" sz="1800" dirty="0"/>
          </a:p>
          <a:p>
            <a:pPr lvl="1"/>
            <a:r>
              <a:rPr lang="zh-TW" altLang="en-US" sz="1800" dirty="0"/>
              <a:t>夜盤超過</a:t>
            </a:r>
            <a:r>
              <a:rPr lang="en-US" altLang="zh-TW" sz="1800" dirty="0"/>
              <a:t>4.30</a:t>
            </a:r>
            <a:r>
              <a:rPr lang="zh-TW" altLang="en-US" sz="1800" dirty="0"/>
              <a:t>平倉</a:t>
            </a:r>
            <a:endParaRPr lang="en-US" altLang="zh-TW" sz="1800" dirty="0"/>
          </a:p>
          <a:p>
            <a:pPr lvl="1"/>
            <a:r>
              <a:rPr lang="zh-TW" altLang="en-US" sz="1800" dirty="0"/>
              <a:t>停損 </a:t>
            </a:r>
            <a:r>
              <a:rPr lang="en-US" altLang="zh-TW" sz="1800" dirty="0"/>
              <a:t>0.5%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C5D0D67-C3D8-4555-8BFA-AC7474EA17C5}"/>
              </a:ext>
            </a:extLst>
          </p:cNvPr>
          <p:cNvSpPr/>
          <p:nvPr/>
        </p:nvSpPr>
        <p:spPr>
          <a:xfrm>
            <a:off x="7501631" y="1690688"/>
            <a:ext cx="4296792" cy="28903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ED2AF3D-82EE-4DC2-BD04-B93B7BCC6D70}"/>
              </a:ext>
            </a:extLst>
          </p:cNvPr>
          <p:cNvSpPr/>
          <p:nvPr/>
        </p:nvSpPr>
        <p:spPr>
          <a:xfrm>
            <a:off x="7501631" y="3160767"/>
            <a:ext cx="4296792" cy="28903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7540F04-E0B6-47C0-A714-E19029439521}"/>
              </a:ext>
            </a:extLst>
          </p:cNvPr>
          <p:cNvSpPr/>
          <p:nvPr/>
        </p:nvSpPr>
        <p:spPr>
          <a:xfrm>
            <a:off x="7494048" y="4200934"/>
            <a:ext cx="4296792" cy="28903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68FD70B4-4708-4176-925F-499FB96EFEB6}"/>
              </a:ext>
            </a:extLst>
          </p:cNvPr>
          <p:cNvSpPr/>
          <p:nvPr/>
        </p:nvSpPr>
        <p:spPr>
          <a:xfrm>
            <a:off x="7501631" y="5450889"/>
            <a:ext cx="4296792" cy="22012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B115CA34-998F-48B1-B4DE-E06C308C582E}"/>
              </a:ext>
            </a:extLst>
          </p:cNvPr>
          <p:cNvSpPr/>
          <p:nvPr/>
        </p:nvSpPr>
        <p:spPr>
          <a:xfrm>
            <a:off x="7501631" y="5903650"/>
            <a:ext cx="4296792" cy="22012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948202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2E3C6BE2-E749-4E2A-AD67-114B99BE843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6547" y="1041854"/>
            <a:ext cx="9378906" cy="4774291"/>
          </a:xfrm>
        </p:spPr>
      </p:pic>
    </p:spTree>
    <p:extLst>
      <p:ext uri="{BB962C8B-B14F-4D97-AF65-F5344CB8AC3E}">
        <p14:creationId xmlns:p14="http://schemas.microsoft.com/office/powerpoint/2010/main" val="17269731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圖片 7">
            <a:extLst>
              <a:ext uri="{FF2B5EF4-FFF2-40B4-BE49-F238E27FC236}">
                <a16:creationId xmlns:a16="http://schemas.microsoft.com/office/drawing/2014/main" id="{AC008084-F673-454B-83A4-EE87D5CA90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3022" y="365125"/>
            <a:ext cx="4223367" cy="6127491"/>
          </a:xfrm>
          <a:prstGeom prst="rect">
            <a:avLst/>
          </a:prstGeom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AAA385C7-EEAA-4C15-8257-D5355F92DF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空單策略</a:t>
            </a:r>
            <a:r>
              <a:rPr lang="en-US" altLang="zh-TW" dirty="0"/>
              <a:t>-2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D4E4DB6-504D-43B1-8DA0-E203B8BD26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7622219" cy="4530787"/>
          </a:xfrm>
        </p:spPr>
        <p:txBody>
          <a:bodyPr>
            <a:normAutofit/>
          </a:bodyPr>
          <a:lstStyle/>
          <a:p>
            <a:r>
              <a:rPr lang="zh-TW" altLang="en-US" sz="2000" dirty="0"/>
              <a:t>日盤</a:t>
            </a:r>
            <a:r>
              <a:rPr lang="en-US" altLang="zh-TW" sz="2000" dirty="0"/>
              <a:t>9.15-13.15</a:t>
            </a:r>
          </a:p>
          <a:p>
            <a:r>
              <a:rPr lang="zh-TW" altLang="en-US" sz="2000" dirty="0"/>
              <a:t>夜盤</a:t>
            </a:r>
            <a:r>
              <a:rPr lang="en-US" altLang="zh-TW" sz="2000" dirty="0"/>
              <a:t>15.30-4.30</a:t>
            </a:r>
          </a:p>
          <a:p>
            <a:r>
              <a:rPr lang="zh-TW" altLang="en-US" sz="2000" dirty="0"/>
              <a:t>日夜盤相同策略</a:t>
            </a:r>
            <a:endParaRPr lang="en-US" altLang="zh-TW" sz="2000" dirty="0"/>
          </a:p>
          <a:p>
            <a:r>
              <a:rPr lang="zh-TW" altLang="en-US" sz="2000" dirty="0"/>
              <a:t>進場</a:t>
            </a:r>
            <a:endParaRPr lang="en-US" altLang="zh-TW" sz="2000" dirty="0"/>
          </a:p>
          <a:p>
            <a:pPr lvl="1"/>
            <a:r>
              <a:rPr lang="en-US" altLang="zh-TW" sz="1800" dirty="0"/>
              <a:t>MACD</a:t>
            </a:r>
            <a:r>
              <a:rPr lang="zh-TW" altLang="en-US" sz="1800" dirty="0"/>
              <a:t> </a:t>
            </a:r>
            <a:r>
              <a:rPr lang="zh-TW" altLang="en-US" sz="1800" dirty="0">
                <a:solidFill>
                  <a:srgbClr val="FF0000"/>
                </a:solidFill>
              </a:rPr>
              <a:t>跌破</a:t>
            </a:r>
            <a:r>
              <a:rPr lang="zh-TW" altLang="en-US" sz="1800" dirty="0"/>
              <a:t>訊號線</a:t>
            </a:r>
            <a:endParaRPr lang="en-US" altLang="zh-TW" sz="1800" dirty="0"/>
          </a:p>
          <a:p>
            <a:pPr lvl="1"/>
            <a:r>
              <a:rPr lang="zh-TW" altLang="en-US" sz="1800" dirty="0">
                <a:solidFill>
                  <a:srgbClr val="FF0000"/>
                </a:solidFill>
              </a:rPr>
              <a:t>大戶買進</a:t>
            </a:r>
            <a:r>
              <a:rPr lang="en-US" altLang="zh-TW" sz="1800" dirty="0">
                <a:solidFill>
                  <a:srgbClr val="FF0000"/>
                </a:solidFill>
              </a:rPr>
              <a:t>[-1]</a:t>
            </a:r>
            <a:r>
              <a:rPr lang="zh-TW" altLang="en-US" sz="1800" dirty="0">
                <a:solidFill>
                  <a:srgbClr val="FF0000"/>
                </a:solidFill>
              </a:rPr>
              <a:t> </a:t>
            </a:r>
            <a:r>
              <a:rPr lang="en-US" altLang="zh-TW" sz="1800" dirty="0">
                <a:solidFill>
                  <a:srgbClr val="FF0000"/>
                </a:solidFill>
              </a:rPr>
              <a:t>&lt;</a:t>
            </a:r>
            <a:r>
              <a:rPr lang="zh-TW" altLang="en-US" sz="1800" dirty="0">
                <a:solidFill>
                  <a:srgbClr val="FF0000"/>
                </a:solidFill>
              </a:rPr>
              <a:t> 散戶買進</a:t>
            </a:r>
            <a:r>
              <a:rPr lang="en-US" altLang="zh-TW" sz="1800" dirty="0">
                <a:solidFill>
                  <a:srgbClr val="FF0000"/>
                </a:solidFill>
              </a:rPr>
              <a:t>[-1] and </a:t>
            </a:r>
            <a:r>
              <a:rPr lang="zh-TW" altLang="en-US" sz="1800" dirty="0">
                <a:solidFill>
                  <a:srgbClr val="FF0000"/>
                </a:solidFill>
              </a:rPr>
              <a:t>大戶買進</a:t>
            </a:r>
            <a:r>
              <a:rPr lang="en-US" altLang="zh-TW" sz="1800" dirty="0">
                <a:solidFill>
                  <a:srgbClr val="FF0000"/>
                </a:solidFill>
              </a:rPr>
              <a:t>[-2]</a:t>
            </a:r>
            <a:r>
              <a:rPr lang="zh-TW" altLang="en-US" sz="1800" dirty="0">
                <a:solidFill>
                  <a:srgbClr val="FF0000"/>
                </a:solidFill>
              </a:rPr>
              <a:t> </a:t>
            </a:r>
            <a:r>
              <a:rPr lang="en-US" altLang="zh-TW" sz="1800" dirty="0">
                <a:solidFill>
                  <a:srgbClr val="FF0000"/>
                </a:solidFill>
              </a:rPr>
              <a:t>&gt;</a:t>
            </a:r>
            <a:r>
              <a:rPr lang="zh-TW" altLang="en-US" sz="1800" dirty="0">
                <a:solidFill>
                  <a:srgbClr val="FF0000"/>
                </a:solidFill>
              </a:rPr>
              <a:t> 散戶買進</a:t>
            </a:r>
            <a:r>
              <a:rPr lang="en-US" altLang="zh-TW" sz="1800" dirty="0">
                <a:solidFill>
                  <a:srgbClr val="FF0000"/>
                </a:solidFill>
              </a:rPr>
              <a:t>[-2]</a:t>
            </a:r>
          </a:p>
          <a:p>
            <a:r>
              <a:rPr lang="zh-TW" altLang="en-US" sz="2000" dirty="0"/>
              <a:t>出場</a:t>
            </a:r>
            <a:endParaRPr lang="en-US" altLang="zh-TW" sz="2000" dirty="0"/>
          </a:p>
          <a:p>
            <a:pPr lvl="1"/>
            <a:r>
              <a:rPr lang="en-US" altLang="zh-TW" sz="1800" dirty="0"/>
              <a:t>MACD</a:t>
            </a:r>
            <a:r>
              <a:rPr lang="zh-TW" altLang="en-US" sz="1800" dirty="0"/>
              <a:t> </a:t>
            </a:r>
            <a:r>
              <a:rPr lang="zh-TW" altLang="en-US" sz="1800" dirty="0">
                <a:solidFill>
                  <a:srgbClr val="FF0000"/>
                </a:solidFill>
              </a:rPr>
              <a:t>突破</a:t>
            </a:r>
            <a:r>
              <a:rPr lang="zh-TW" altLang="en-US" sz="1800" dirty="0"/>
              <a:t>訊號線</a:t>
            </a:r>
            <a:endParaRPr lang="en-US" altLang="zh-TW" sz="1800" dirty="0"/>
          </a:p>
          <a:p>
            <a:pPr lvl="1"/>
            <a:r>
              <a:rPr lang="zh-TW" altLang="en-US" sz="1800" dirty="0">
                <a:solidFill>
                  <a:srgbClr val="FF0000"/>
                </a:solidFill>
              </a:rPr>
              <a:t>大戶買進</a:t>
            </a:r>
            <a:r>
              <a:rPr lang="en-US" altLang="zh-TW" sz="1800" dirty="0">
                <a:solidFill>
                  <a:srgbClr val="FF0000"/>
                </a:solidFill>
              </a:rPr>
              <a:t>[-1]</a:t>
            </a:r>
            <a:r>
              <a:rPr lang="zh-TW" altLang="en-US" sz="1800" dirty="0">
                <a:solidFill>
                  <a:srgbClr val="FF0000"/>
                </a:solidFill>
              </a:rPr>
              <a:t> </a:t>
            </a:r>
            <a:r>
              <a:rPr lang="en-US" altLang="zh-TW" sz="1800" dirty="0">
                <a:solidFill>
                  <a:srgbClr val="FF0000"/>
                </a:solidFill>
              </a:rPr>
              <a:t>&gt;</a:t>
            </a:r>
            <a:r>
              <a:rPr lang="zh-TW" altLang="en-US" sz="1800" dirty="0">
                <a:solidFill>
                  <a:srgbClr val="FF0000"/>
                </a:solidFill>
              </a:rPr>
              <a:t> 散戶買進</a:t>
            </a:r>
            <a:r>
              <a:rPr lang="en-US" altLang="zh-TW" sz="1800" dirty="0">
                <a:solidFill>
                  <a:srgbClr val="FF0000"/>
                </a:solidFill>
              </a:rPr>
              <a:t>[-1] and </a:t>
            </a:r>
            <a:r>
              <a:rPr lang="zh-TW" altLang="en-US" sz="1800" dirty="0">
                <a:solidFill>
                  <a:srgbClr val="FF0000"/>
                </a:solidFill>
              </a:rPr>
              <a:t>大戶買進</a:t>
            </a:r>
            <a:r>
              <a:rPr lang="en-US" altLang="zh-TW" sz="1800" dirty="0">
                <a:solidFill>
                  <a:srgbClr val="FF0000"/>
                </a:solidFill>
              </a:rPr>
              <a:t>[-2]</a:t>
            </a:r>
            <a:r>
              <a:rPr lang="zh-TW" altLang="en-US" sz="1800" dirty="0">
                <a:solidFill>
                  <a:srgbClr val="FF0000"/>
                </a:solidFill>
              </a:rPr>
              <a:t> </a:t>
            </a:r>
            <a:r>
              <a:rPr lang="en-US" altLang="zh-TW" sz="1800" dirty="0">
                <a:solidFill>
                  <a:srgbClr val="FF0000"/>
                </a:solidFill>
              </a:rPr>
              <a:t>&lt;</a:t>
            </a:r>
            <a:r>
              <a:rPr lang="zh-TW" altLang="en-US" sz="1800" dirty="0">
                <a:solidFill>
                  <a:srgbClr val="FF0000"/>
                </a:solidFill>
              </a:rPr>
              <a:t> 散戶買進</a:t>
            </a:r>
            <a:r>
              <a:rPr lang="en-US" altLang="zh-TW" sz="1800" dirty="0">
                <a:solidFill>
                  <a:srgbClr val="FF0000"/>
                </a:solidFill>
              </a:rPr>
              <a:t>[-2]</a:t>
            </a:r>
          </a:p>
          <a:p>
            <a:pPr lvl="1"/>
            <a:r>
              <a:rPr lang="zh-TW" altLang="en-US" sz="1800" dirty="0"/>
              <a:t>日盤超過</a:t>
            </a:r>
            <a:r>
              <a:rPr lang="en-US" altLang="zh-TW" sz="1800" dirty="0"/>
              <a:t>13.15</a:t>
            </a:r>
            <a:r>
              <a:rPr lang="zh-TW" altLang="en-US" sz="1800" dirty="0"/>
              <a:t>平倉</a:t>
            </a:r>
            <a:endParaRPr lang="en-US" altLang="zh-TW" sz="1800" dirty="0"/>
          </a:p>
          <a:p>
            <a:pPr lvl="1"/>
            <a:r>
              <a:rPr lang="zh-TW" altLang="en-US" sz="1800" dirty="0"/>
              <a:t>夜盤超過</a:t>
            </a:r>
            <a:r>
              <a:rPr lang="en-US" altLang="zh-TW" sz="1800" dirty="0"/>
              <a:t>4.30</a:t>
            </a:r>
            <a:r>
              <a:rPr lang="zh-TW" altLang="en-US" sz="1800" dirty="0"/>
              <a:t>平倉</a:t>
            </a:r>
            <a:endParaRPr lang="en-US" altLang="zh-TW" sz="1800" dirty="0"/>
          </a:p>
          <a:p>
            <a:pPr lvl="1"/>
            <a:r>
              <a:rPr lang="zh-TW" altLang="en-US" sz="1800" dirty="0"/>
              <a:t>停損 </a:t>
            </a:r>
            <a:r>
              <a:rPr lang="en-US" altLang="zh-TW" sz="1800" dirty="0"/>
              <a:t>0.5%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C5D0D67-C3D8-4555-8BFA-AC7474EA17C5}"/>
              </a:ext>
            </a:extLst>
          </p:cNvPr>
          <p:cNvSpPr/>
          <p:nvPr/>
        </p:nvSpPr>
        <p:spPr>
          <a:xfrm>
            <a:off x="7450720" y="1698487"/>
            <a:ext cx="4543012" cy="20133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9F7798C-3978-4A11-BF11-7F84FEFC6C3D}"/>
              </a:ext>
            </a:extLst>
          </p:cNvPr>
          <p:cNvSpPr/>
          <p:nvPr/>
        </p:nvSpPr>
        <p:spPr>
          <a:xfrm>
            <a:off x="7433200" y="3227666"/>
            <a:ext cx="4543012" cy="20133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69E265C0-57BB-4153-8F31-9AD23BC4172F}"/>
              </a:ext>
            </a:extLst>
          </p:cNvPr>
          <p:cNvSpPr/>
          <p:nvPr/>
        </p:nvSpPr>
        <p:spPr>
          <a:xfrm>
            <a:off x="7450720" y="4312221"/>
            <a:ext cx="4543012" cy="20133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08D369A2-7E05-49D1-BEDB-A505E32C6A72}"/>
              </a:ext>
            </a:extLst>
          </p:cNvPr>
          <p:cNvSpPr/>
          <p:nvPr/>
        </p:nvSpPr>
        <p:spPr>
          <a:xfrm>
            <a:off x="7450720" y="5577922"/>
            <a:ext cx="4543012" cy="20133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9ADAC58D-8466-4919-AB4F-57F4D2B8B781}"/>
              </a:ext>
            </a:extLst>
          </p:cNvPr>
          <p:cNvSpPr/>
          <p:nvPr/>
        </p:nvSpPr>
        <p:spPr>
          <a:xfrm>
            <a:off x="7450720" y="6035269"/>
            <a:ext cx="4543012" cy="20133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726200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內容版面配置區 17">
            <a:extLst>
              <a:ext uri="{FF2B5EF4-FFF2-40B4-BE49-F238E27FC236}">
                <a16:creationId xmlns:a16="http://schemas.microsoft.com/office/drawing/2014/main" id="{562B0D3F-7F49-48AA-8036-7C94D8072D5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8865" y="1068487"/>
            <a:ext cx="9274270" cy="4721026"/>
          </a:xfrm>
        </p:spPr>
      </p:pic>
    </p:spTree>
    <p:extLst>
      <p:ext uri="{BB962C8B-B14F-4D97-AF65-F5344CB8AC3E}">
        <p14:creationId xmlns:p14="http://schemas.microsoft.com/office/powerpoint/2010/main" val="20143987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AA385C7-EEAA-4C15-8257-D5355F92DF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TW" altLang="en-US" dirty="0"/>
              <a:t>多空單策略 最佳化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D4E4DB6-504D-43B1-8DA0-E203B8BD26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5257801" cy="4351338"/>
          </a:xfrm>
        </p:spPr>
        <p:txBody>
          <a:bodyPr>
            <a:normAutofit/>
          </a:bodyPr>
          <a:lstStyle/>
          <a:p>
            <a:r>
              <a:rPr lang="zh-TW" altLang="en-US" dirty="0"/>
              <a:t>日盤</a:t>
            </a:r>
            <a:r>
              <a:rPr lang="en-US" altLang="zh-TW" dirty="0"/>
              <a:t>9.15-13.15</a:t>
            </a:r>
          </a:p>
          <a:p>
            <a:r>
              <a:rPr lang="zh-TW" altLang="en-US" dirty="0"/>
              <a:t>夜盤</a:t>
            </a:r>
            <a:r>
              <a:rPr lang="en-US" altLang="zh-TW" dirty="0"/>
              <a:t>15.30-4.30</a:t>
            </a:r>
          </a:p>
          <a:p>
            <a:r>
              <a:rPr lang="zh-TW" altLang="en-US" dirty="0"/>
              <a:t>停損百分比</a:t>
            </a:r>
            <a:r>
              <a:rPr lang="en-US" altLang="zh-TW" dirty="0"/>
              <a:t>		</a:t>
            </a:r>
            <a:r>
              <a:rPr lang="en-US" altLang="zh-TW" dirty="0">
                <a:solidFill>
                  <a:srgbClr val="FF0000"/>
                </a:solidFill>
              </a:rPr>
              <a:t>0.6</a:t>
            </a:r>
            <a:r>
              <a:rPr lang="en-US" altLang="zh-TW" dirty="0"/>
              <a:t>%</a:t>
            </a:r>
          </a:p>
          <a:p>
            <a:r>
              <a:rPr lang="en-US" altLang="zh-TW" dirty="0"/>
              <a:t>MACD</a:t>
            </a:r>
          </a:p>
          <a:p>
            <a:pPr lvl="1"/>
            <a:r>
              <a:rPr lang="en-US" altLang="zh-TW" dirty="0"/>
              <a:t>Fast : </a:t>
            </a:r>
            <a:r>
              <a:rPr lang="en-US" altLang="zh-TW" dirty="0">
                <a:solidFill>
                  <a:srgbClr val="FF0000"/>
                </a:solidFill>
              </a:rPr>
              <a:t>5</a:t>
            </a:r>
          </a:p>
          <a:p>
            <a:pPr lvl="1"/>
            <a:r>
              <a:rPr lang="en-US" altLang="zh-TW" dirty="0"/>
              <a:t>Slow : </a:t>
            </a:r>
            <a:r>
              <a:rPr lang="en-US" altLang="zh-TW" dirty="0">
                <a:solidFill>
                  <a:srgbClr val="FF0000"/>
                </a:solidFill>
              </a:rPr>
              <a:t>40</a:t>
            </a:r>
          </a:p>
          <a:p>
            <a:pPr lvl="1"/>
            <a:r>
              <a:rPr lang="en-US" altLang="zh-TW" dirty="0"/>
              <a:t>Signal : </a:t>
            </a:r>
            <a:r>
              <a:rPr lang="en-US" altLang="zh-TW" dirty="0">
                <a:solidFill>
                  <a:srgbClr val="FF0000"/>
                </a:solidFill>
              </a:rPr>
              <a:t>20</a:t>
            </a:r>
          </a:p>
          <a:p>
            <a:pPr lvl="1"/>
            <a:endParaRPr lang="en-US" altLang="zh-TW" sz="2000" dirty="0"/>
          </a:p>
          <a:p>
            <a:endParaRPr lang="en-US" altLang="zh-TW" sz="2400" dirty="0">
              <a:solidFill>
                <a:srgbClr val="FF0000"/>
              </a:solidFill>
            </a:endParaRPr>
          </a:p>
        </p:txBody>
      </p:sp>
      <p:pic>
        <p:nvPicPr>
          <p:cNvPr id="11" name="圖片 10">
            <a:extLst>
              <a:ext uri="{FF2B5EF4-FFF2-40B4-BE49-F238E27FC236}">
                <a16:creationId xmlns:a16="http://schemas.microsoft.com/office/drawing/2014/main" id="{7E3E7C88-2152-42D2-9620-6065F00681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9476" y="365125"/>
            <a:ext cx="4093035" cy="6054838"/>
          </a:xfrm>
          <a:prstGeom prst="rect">
            <a:avLst/>
          </a:prstGeom>
        </p:spPr>
      </p:pic>
      <p:pic>
        <p:nvPicPr>
          <p:cNvPr id="12" name="圖片 11">
            <a:extLst>
              <a:ext uri="{FF2B5EF4-FFF2-40B4-BE49-F238E27FC236}">
                <a16:creationId xmlns:a16="http://schemas.microsoft.com/office/drawing/2014/main" id="{8129DCE2-4144-4FC0-B474-2DE2FF32BF4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46853"/>
          <a:stretch/>
        </p:blipFill>
        <p:spPr>
          <a:xfrm>
            <a:off x="11106015" y="0"/>
            <a:ext cx="1090933" cy="1225118"/>
          </a:xfrm>
          <a:prstGeom prst="rect">
            <a:avLst/>
          </a:prstGeom>
        </p:spPr>
      </p:pic>
      <p:sp>
        <p:nvSpPr>
          <p:cNvPr id="13" name="矩形 12">
            <a:extLst>
              <a:ext uri="{FF2B5EF4-FFF2-40B4-BE49-F238E27FC236}">
                <a16:creationId xmlns:a16="http://schemas.microsoft.com/office/drawing/2014/main" id="{14E178D4-0C4A-4AD5-A5A8-A5C10705C875}"/>
              </a:ext>
            </a:extLst>
          </p:cNvPr>
          <p:cNvSpPr/>
          <p:nvPr/>
        </p:nvSpPr>
        <p:spPr>
          <a:xfrm>
            <a:off x="6464528" y="1668154"/>
            <a:ext cx="4289648" cy="24027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BB118989-035B-41F8-A8D3-962FB4C56259}"/>
              </a:ext>
            </a:extLst>
          </p:cNvPr>
          <p:cNvSpPr/>
          <p:nvPr/>
        </p:nvSpPr>
        <p:spPr>
          <a:xfrm>
            <a:off x="6483233" y="3146849"/>
            <a:ext cx="4289648" cy="24027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515E6094-4C07-4499-99D8-9BACE5147D87}"/>
              </a:ext>
            </a:extLst>
          </p:cNvPr>
          <p:cNvSpPr/>
          <p:nvPr/>
        </p:nvSpPr>
        <p:spPr>
          <a:xfrm>
            <a:off x="6464528" y="5464447"/>
            <a:ext cx="4289648" cy="24027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42EE8321-A8B8-4430-83D7-26403D0F5F20}"/>
              </a:ext>
            </a:extLst>
          </p:cNvPr>
          <p:cNvSpPr/>
          <p:nvPr/>
        </p:nvSpPr>
        <p:spPr>
          <a:xfrm>
            <a:off x="6464528" y="5942205"/>
            <a:ext cx="4289648" cy="24027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999EB88B-A1E7-4CCD-8DC5-696C4F556681}"/>
              </a:ext>
            </a:extLst>
          </p:cNvPr>
          <p:cNvSpPr/>
          <p:nvPr/>
        </p:nvSpPr>
        <p:spPr>
          <a:xfrm>
            <a:off x="6483233" y="4221150"/>
            <a:ext cx="4289648" cy="24027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861032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內容版面配置區 18">
            <a:extLst>
              <a:ext uri="{FF2B5EF4-FFF2-40B4-BE49-F238E27FC236}">
                <a16:creationId xmlns:a16="http://schemas.microsoft.com/office/drawing/2014/main" id="{39BD05B5-3B06-4A8E-B78E-277FE960D1C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8987" y="829297"/>
            <a:ext cx="10214025" cy="5199405"/>
          </a:xfrm>
        </p:spPr>
      </p:pic>
      <p:cxnSp>
        <p:nvCxnSpPr>
          <p:cNvPr id="15" name="直線接點 14">
            <a:extLst>
              <a:ext uri="{FF2B5EF4-FFF2-40B4-BE49-F238E27FC236}">
                <a16:creationId xmlns:a16="http://schemas.microsoft.com/office/drawing/2014/main" id="{28EF7287-DC0B-486C-9852-2BA11C05BD2D}"/>
              </a:ext>
            </a:extLst>
          </p:cNvPr>
          <p:cNvCxnSpPr>
            <a:cxnSpLocks/>
          </p:cNvCxnSpPr>
          <p:nvPr/>
        </p:nvCxnSpPr>
        <p:spPr>
          <a:xfrm flipV="1">
            <a:off x="7972147" y="390617"/>
            <a:ext cx="0" cy="5770486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927624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4EE46BF-9780-4A77-BBDB-4ABBDF3883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改進方向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776A9B8-D5CD-4CE3-96FE-A79193A2FD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增加交易次數</a:t>
            </a:r>
            <a:endParaRPr lang="en-US" altLang="zh-TW" dirty="0"/>
          </a:p>
          <a:p>
            <a:r>
              <a:rPr lang="zh-TW" altLang="en-US" dirty="0"/>
              <a:t>提高獲利</a:t>
            </a:r>
            <a:endParaRPr lang="en-US" altLang="zh-TW" dirty="0"/>
          </a:p>
          <a:p>
            <a:pPr marL="0" indent="0">
              <a:buNone/>
            </a:pP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6783373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944</TotalTime>
  <Words>504</Words>
  <Application>Microsoft Office PowerPoint</Application>
  <PresentationFormat>寬螢幕</PresentationFormat>
  <Paragraphs>78</Paragraphs>
  <Slides>14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14</vt:i4>
      </vt:variant>
    </vt:vector>
  </HeadingPairs>
  <TitlesOfParts>
    <vt:vector size="19" baseType="lpstr">
      <vt:lpstr>新細明體</vt:lpstr>
      <vt:lpstr>Arial</vt:lpstr>
      <vt:lpstr>Calibri</vt:lpstr>
      <vt:lpstr>Calibri Light</vt:lpstr>
      <vt:lpstr>Office 佈景主題</vt:lpstr>
      <vt:lpstr>策略報告</vt:lpstr>
      <vt:lpstr>使用資料</vt:lpstr>
      <vt:lpstr>使用指標</vt:lpstr>
      <vt:lpstr>多單策略-1</vt:lpstr>
      <vt:lpstr>PowerPoint 簡報</vt:lpstr>
      <vt:lpstr>多單策略-2</vt:lpstr>
      <vt:lpstr>PowerPoint 簡報</vt:lpstr>
      <vt:lpstr>空單策略-1</vt:lpstr>
      <vt:lpstr>PowerPoint 簡報</vt:lpstr>
      <vt:lpstr>空單策略-2</vt:lpstr>
      <vt:lpstr>PowerPoint 簡報</vt:lpstr>
      <vt:lpstr>多空單策略 最佳化</vt:lpstr>
      <vt:lpstr>PowerPoint 簡報</vt:lpstr>
      <vt:lpstr>改進方向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策略報告</dc:title>
  <dc:creator>陳禹辰</dc:creator>
  <cp:lastModifiedBy>陳禹辰</cp:lastModifiedBy>
  <cp:revision>98</cp:revision>
  <dcterms:created xsi:type="dcterms:W3CDTF">2024-04-15T14:21:33Z</dcterms:created>
  <dcterms:modified xsi:type="dcterms:W3CDTF">2024-04-16T17:56:57Z</dcterms:modified>
</cp:coreProperties>
</file>